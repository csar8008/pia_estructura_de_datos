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1"/>
  </p:notesMasterIdLst>
  <p:handoutMasterIdLst>
    <p:handoutMasterId r:id="rId12"/>
  </p:handoutMasterIdLst>
  <p:sldIdLst>
    <p:sldId id="256" r:id="rId5"/>
    <p:sldId id="262" r:id="rId6"/>
    <p:sldId id="261" r:id="rId7"/>
    <p:sldId id="289" r:id="rId8"/>
    <p:sldId id="264" r:id="rId9"/>
    <p:sldId id="278" r:id="rId10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979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3882" y="133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commentAuthors" Target="commentAuthors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449ECEF-3E94-4732-BFC3-464D975639BA}" type="datetime1">
              <a:rPr lang="es-ES" smtClean="0"/>
              <a:t>19/05/2026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F9A36D-7FAC-478F-9944-F324014F6FD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53551-E181-4730-A9E5-DB7143B35D46}" type="datetime1">
              <a:rPr lang="es-ES" smtClean="0"/>
              <a:pPr/>
              <a:t>19/05/2026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s-ES" noProof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4B9A9E5-4F7F-4A7D-9DE1-899232329269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14011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181913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434480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82655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207353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0811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sv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rtlCol="0"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PARA EDITAR EL ESTILO DEL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16041" y="5586890"/>
            <a:ext cx="4941770" cy="396660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s-ES" noProof="0"/>
              <a:t>Haga clic para editar el estilo de subtítulo del patrón</a:t>
            </a:r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rogram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3171825" cy="1325563"/>
          </a:xfrm>
        </p:spPr>
        <p:txBody>
          <a:bodyPr rtlCol="0" anchor="b">
            <a:normAutofit/>
          </a:bodyPr>
          <a:lstStyle>
            <a:lvl1pPr>
              <a:defRPr sz="28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PARA EDITAR EL ESTILO DEL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499" y="2924175"/>
            <a:ext cx="3171825" cy="2519363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Presentación para inversores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ala de tiem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áfico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 rtlCol="0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es-ES" noProof="0"/>
              <a:t>HAGA CLIC PARA EDITAR EL TÍTULO</a:t>
            </a:r>
          </a:p>
        </p:txBody>
      </p:sp>
      <p:sp>
        <p:nvSpPr>
          <p:cNvPr id="16" name="Marcador de texto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MODIFICAR LOS ESTILOS DEL TEXTO MAESTRO</a:t>
            </a:r>
          </a:p>
        </p:txBody>
      </p:sp>
      <p:sp>
        <p:nvSpPr>
          <p:cNvPr id="17" name="Marcador de texto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MODIFICAR LOS ESTILOS DEL TEXTO MAESTRO</a:t>
            </a:r>
          </a:p>
        </p:txBody>
      </p:sp>
      <p:sp>
        <p:nvSpPr>
          <p:cNvPr id="18" name="Marcador de texto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MODIFICAR LOS ESTILOS DEL TEXTO MAESTRO</a:t>
            </a:r>
          </a:p>
        </p:txBody>
      </p:sp>
      <p:sp>
        <p:nvSpPr>
          <p:cNvPr id="19" name="Marcador de texto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MODIFICAR LOS ESTILOS DEL TEXTO MAESTRO</a:t>
            </a:r>
          </a:p>
        </p:txBody>
      </p:sp>
      <p:sp>
        <p:nvSpPr>
          <p:cNvPr id="34" name="Marcador de texto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modificar los estilos del texto maestro</a:t>
            </a:r>
          </a:p>
        </p:txBody>
      </p:sp>
      <p:sp>
        <p:nvSpPr>
          <p:cNvPr id="35" name="Marcador de texto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modificar los estilos del texto maestro</a:t>
            </a:r>
          </a:p>
        </p:txBody>
      </p:sp>
      <p:sp>
        <p:nvSpPr>
          <p:cNvPr id="36" name="Marcador de texto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modificar los estilos del texto maestro</a:t>
            </a:r>
          </a:p>
        </p:txBody>
      </p:sp>
      <p:sp>
        <p:nvSpPr>
          <p:cNvPr id="37" name="Marcador de texto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modificar los estilos del texto maestro</a:t>
            </a: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es-ES" noProof="0"/>
              <a:t>20XX</a:t>
            </a:r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 rtlCol="0"/>
          <a:lstStyle>
            <a:lvl1pPr algn="l">
              <a:defRPr sz="900"/>
            </a:lvl1pPr>
          </a:lstStyle>
          <a:p>
            <a:pPr rtl="0"/>
            <a:r>
              <a:rPr lang="es-ES" noProof="0"/>
              <a:t>Presentación para inversores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a de contenido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es-ES" noProof="0"/>
              <a:t>HAGA CLIC PARA MODIFICAR EL ESTILO DEL TÍTULO MAESTRO</a:t>
            </a:r>
          </a:p>
        </p:txBody>
      </p:sp>
      <p:sp>
        <p:nvSpPr>
          <p:cNvPr id="15" name="Marcador de texto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es-ES" noProof="0"/>
              <a:t>HAGA CLIC PARA AGREGAR UN SUBTÍTULO</a:t>
            </a:r>
          </a:p>
        </p:txBody>
      </p:sp>
      <p:sp>
        <p:nvSpPr>
          <p:cNvPr id="17" name="Marcador de texto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agregar texto</a:t>
            </a:r>
          </a:p>
        </p:txBody>
      </p:sp>
      <p:sp>
        <p:nvSpPr>
          <p:cNvPr id="31" name="Marcador de texto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 noProof="0"/>
              <a:t>HAGA CLIC PARA AGREGAR UN SUBTÍTULO</a:t>
            </a:r>
          </a:p>
        </p:txBody>
      </p:sp>
      <p:sp>
        <p:nvSpPr>
          <p:cNvPr id="32" name="Marcador de texto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agregar texto</a:t>
            </a:r>
          </a:p>
        </p:txBody>
      </p:sp>
      <p:sp>
        <p:nvSpPr>
          <p:cNvPr id="33" name="Marcador de texto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 noProof="0"/>
              <a:t>HAGA CLIC PARA AGREGAR UN SUBTÍTULO</a:t>
            </a:r>
          </a:p>
        </p:txBody>
      </p:sp>
      <p:sp>
        <p:nvSpPr>
          <p:cNvPr id="34" name="Marcador de texto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agregar texto</a:t>
            </a:r>
          </a:p>
        </p:txBody>
      </p:sp>
      <p:sp>
        <p:nvSpPr>
          <p:cNvPr id="12" name="Marcador de texto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 noProof="0"/>
              <a:t>HAGA CLIC PARA AGREGAR UN SUBTÍTULO</a:t>
            </a:r>
          </a:p>
        </p:txBody>
      </p:sp>
      <p:sp>
        <p:nvSpPr>
          <p:cNvPr id="13" name="Marcador de texto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agregar texto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 rtlCol="0"/>
          <a:lstStyle/>
          <a:p>
            <a:pPr rtl="0"/>
            <a:r>
              <a:rPr lang="es-ES" noProof="0"/>
              <a:t>20XX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 rtlCol="0"/>
          <a:lstStyle/>
          <a:p>
            <a:pPr rtl="0"/>
            <a:r>
              <a:rPr lang="es-ES" noProof="0"/>
              <a:t>Presentación para inversores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es-ES" noProof="0" smtClean="0"/>
              <a:t>‹#›</a:t>
            </a:fld>
            <a:endParaRPr lang="es-ES" noProof="0"/>
          </a:p>
        </p:txBody>
      </p:sp>
      <p:cxnSp>
        <p:nvCxnSpPr>
          <p:cNvPr id="2" name="Conector recto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áfico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a de contenido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rtlCol="0"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es-ES" noProof="0"/>
              <a:t>HAGA CLIC PARA MODIFICAR EL ESTILO DEL TÍTULO MAESTRO</a:t>
            </a:r>
          </a:p>
        </p:txBody>
      </p:sp>
      <p:sp>
        <p:nvSpPr>
          <p:cNvPr id="15" name="Marcador de texto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es-ES" noProof="0"/>
              <a:t>HAGA CLIC PARA AGREGAR UN SUBTÍTULO</a:t>
            </a:r>
          </a:p>
        </p:txBody>
      </p:sp>
      <p:sp>
        <p:nvSpPr>
          <p:cNvPr id="17" name="Marcador de texto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agregar texto</a:t>
            </a:r>
          </a:p>
        </p:txBody>
      </p:sp>
      <p:sp>
        <p:nvSpPr>
          <p:cNvPr id="16" name="Marcador de texto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es-ES" noProof="0"/>
              <a:t>HAGA CLIC PARA AGREGAR UN SUBTÍTULO</a:t>
            </a:r>
          </a:p>
        </p:txBody>
      </p:sp>
      <p:sp>
        <p:nvSpPr>
          <p:cNvPr id="18" name="Marcador de texto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agregar texto</a:t>
            </a:r>
          </a:p>
        </p:txBody>
      </p:sp>
      <p:sp>
        <p:nvSpPr>
          <p:cNvPr id="19" name="Marcador de texto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es-ES" noProof="0"/>
              <a:t>HAGA CLIC PARA AGREGAR UN SUBTÍTULO</a:t>
            </a:r>
          </a:p>
        </p:txBody>
      </p:sp>
      <p:sp>
        <p:nvSpPr>
          <p:cNvPr id="20" name="Marcador de texto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agregar texto</a:t>
            </a:r>
          </a:p>
        </p:txBody>
      </p:sp>
      <p:sp>
        <p:nvSpPr>
          <p:cNvPr id="23" name="Marcador de texto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es-ES" noProof="0"/>
              <a:t>HAGA CLIC PARA AGREGAR UN SUBTÍTULO</a:t>
            </a:r>
          </a:p>
        </p:txBody>
      </p:sp>
      <p:sp>
        <p:nvSpPr>
          <p:cNvPr id="24" name="Marcador de texto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agregar texto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20XX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Presentación para inversores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es-ES" noProof="0" smtClean="0"/>
              <a:pPr rtl="0"/>
              <a:t>‹#›</a:t>
            </a:fld>
            <a:endParaRPr lang="es-ES" noProof="0"/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cció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es-ES" noProof="0"/>
              <a:t>HAGA CLIC PARA EDITAR EL ESTILO DEL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5" y="3660774"/>
            <a:ext cx="5111750" cy="152558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Marcador de fecha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20XX</a:t>
            </a:r>
          </a:p>
        </p:txBody>
      </p:sp>
      <p:sp>
        <p:nvSpPr>
          <p:cNvPr id="10" name="Marcador de pie de página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Presentación para inversores</a:t>
            </a:r>
          </a:p>
        </p:txBody>
      </p:sp>
      <p:sp>
        <p:nvSpPr>
          <p:cNvPr id="11" name="Marcador de número de diapositiva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lto de secció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rtlCol="0"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PARA MODIFICAR EL ESTILO DEL TÍTULO MAESTRO</a:t>
            </a:r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áfico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es-ES" noProof="0"/>
              <a:t>HAGA CLIC PARA EDITAR EL ESTILO DEL TÍTULO DEL PATRÓN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Marcador de texto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es-ES" noProof="0"/>
              <a:t>HAGA CLIC PARA AGREGAR UN SUBTÍTULO</a:t>
            </a:r>
          </a:p>
        </p:txBody>
      </p:sp>
      <p:sp>
        <p:nvSpPr>
          <p:cNvPr id="12" name="Marcador de texto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agregar texto</a:t>
            </a:r>
          </a:p>
        </p:txBody>
      </p:sp>
      <p:sp>
        <p:nvSpPr>
          <p:cNvPr id="13" name="Marcador de texto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es-ES" noProof="0"/>
              <a:t>HAGA CLIC PARA AGREGAR UN SUBTÍTULO</a:t>
            </a:r>
          </a:p>
        </p:txBody>
      </p:sp>
      <p:sp>
        <p:nvSpPr>
          <p:cNvPr id="14" name="Marcador de texto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agregar texto</a:t>
            </a:r>
          </a:p>
        </p:txBody>
      </p:sp>
      <p:sp>
        <p:nvSpPr>
          <p:cNvPr id="15" name="Marcador de texto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es-ES" noProof="0"/>
              <a:t>HAGA CLIC PARA AGREGAR UN SUBTÍTULO</a:t>
            </a:r>
          </a:p>
        </p:txBody>
      </p:sp>
      <p:sp>
        <p:nvSpPr>
          <p:cNvPr id="16" name="Marcador de texto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agregar texto</a:t>
            </a:r>
          </a:p>
        </p:txBody>
      </p:sp>
      <p:sp>
        <p:nvSpPr>
          <p:cNvPr id="17" name="Marcador de fecha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20XX</a:t>
            </a:r>
          </a:p>
        </p:txBody>
      </p:sp>
      <p:sp>
        <p:nvSpPr>
          <p:cNvPr id="18" name="Marcador de pie de página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Presentación para inversores</a:t>
            </a:r>
          </a:p>
        </p:txBody>
      </p:sp>
      <p:sp>
        <p:nvSpPr>
          <p:cNvPr id="19" name="Marcador de número de diapositiva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es-ES" noProof="0" smtClean="0"/>
              <a:pPr rtl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 tr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es-ES" noProof="0"/>
              <a:t>HAGA CLIC PARA EDITAR EL ESTILO DEL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 EL TEXTO MAESTRO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 noProof="0"/>
              <a:t>HAGA CLIC PARA EDITAR EL TEXTO MAESTRO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7665" y="3834606"/>
            <a:ext cx="2896671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21" name="Marcador de texto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 EL TEXTO MAESTRO</a:t>
            </a:r>
          </a:p>
        </p:txBody>
      </p:sp>
      <p:sp>
        <p:nvSpPr>
          <p:cNvPr id="22" name="Marcador de contenido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066421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20XX</a:t>
            </a:r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Presentación para inversores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es-ES" noProof="0" smtClean="0"/>
              <a:t>‹#›</a:t>
            </a:fld>
            <a:endParaRPr lang="es-ES" noProof="0"/>
          </a:p>
        </p:txBody>
      </p: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tiva de mercado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es-ES" noProof="0"/>
              <a:t>HAGA CLIC PARA EDITAR EL ESTILO DEL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#</a:t>
            </a:r>
          </a:p>
        </p:txBody>
      </p:sp>
      <p:sp>
        <p:nvSpPr>
          <p:cNvPr id="23" name="Marcador de texto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#</a:t>
            </a:r>
          </a:p>
        </p:txBody>
      </p:sp>
      <p:sp>
        <p:nvSpPr>
          <p:cNvPr id="24" name="Marcador de texto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#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129698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526261" y="4824188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22" name="Marcador de contenido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938210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editar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áfico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áfico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Marcador de contenido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129698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26" name="Marcador de contenido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26261" y="5280763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</p:txBody>
      </p:sp>
      <p:sp>
        <p:nvSpPr>
          <p:cNvPr id="27" name="Marcador de contenido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7938210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20XX</a:t>
            </a:r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Presentación para inversores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tenido do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 rtlCol="0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es-ES" noProof="0"/>
              <a:t>HAGA CLIC PARA EDITAR EL ESTILO DEL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 EL TEXTO MAESTRO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33700" y="3834606"/>
            <a:ext cx="3924300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 noProof="0"/>
              <a:t>HAGA CLIC PARA EDITAR EL TEXTO MAESTRO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10173" y="3834606"/>
            <a:ext cx="3943627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20XX</a:t>
            </a:r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Presentación para inversores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es-ES" noProof="0" smtClean="0"/>
              <a:t>‹#›</a:t>
            </a:fld>
            <a:endParaRPr lang="es-ES" noProof="0"/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áfico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ítulo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es-ES" noProof="0"/>
              <a:t>HAGA CLIC PARA MODIFICAR EL ESTILO DEL TÍTULO MAESTRO</a:t>
            </a:r>
          </a:p>
        </p:txBody>
      </p:sp>
      <p:sp>
        <p:nvSpPr>
          <p:cNvPr id="20" name="Marcador de texto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es-ES" noProof="0"/>
              <a:t>HAGA CLIC PARA AGREGAR UN SUBTÍTULO</a:t>
            </a:r>
          </a:p>
        </p:txBody>
      </p:sp>
      <p:sp>
        <p:nvSpPr>
          <p:cNvPr id="25" name="Marcador de texto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agregar texto</a:t>
            </a:r>
          </a:p>
        </p:txBody>
      </p:sp>
      <p:sp>
        <p:nvSpPr>
          <p:cNvPr id="26" name="Marcador de texto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es-ES" noProof="0"/>
              <a:t>HAGA CLIC PARA AGREGAR UN SUBTÍTULO</a:t>
            </a:r>
          </a:p>
        </p:txBody>
      </p:sp>
      <p:sp>
        <p:nvSpPr>
          <p:cNvPr id="27" name="Marcador de texto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agregar texto</a:t>
            </a:r>
          </a:p>
        </p:txBody>
      </p:sp>
      <p:sp>
        <p:nvSpPr>
          <p:cNvPr id="28" name="Marcador de texto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es-ES" noProof="0"/>
              <a:t>HAGA CLIC PARA AGREGAR UN SUBTÍTULO</a:t>
            </a:r>
          </a:p>
        </p:txBody>
      </p:sp>
      <p:sp>
        <p:nvSpPr>
          <p:cNvPr id="29" name="Marcador de texto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Haga clic para agregar texto</a:t>
            </a:r>
          </a:p>
        </p:txBody>
      </p:sp>
      <p:sp>
        <p:nvSpPr>
          <p:cNvPr id="21" name="Marcador de fecha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20XX</a:t>
            </a:r>
          </a:p>
        </p:txBody>
      </p:sp>
      <p:sp>
        <p:nvSpPr>
          <p:cNvPr id="22" name="Marcador de pie de página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Presentación para inversores</a:t>
            </a:r>
          </a:p>
        </p:txBody>
      </p:sp>
      <p:sp>
        <p:nvSpPr>
          <p:cNvPr id="24" name="Marcador de número de diapositiva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onogram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es-ES" noProof="0"/>
              <a:t>HAGA CLIC PARA EDITAR EL ESTILO DEL TÍTULO DEL PATRÓN</a:t>
            </a:r>
          </a:p>
        </p:txBody>
      </p:sp>
      <p:sp>
        <p:nvSpPr>
          <p:cNvPr id="6" name="Marcador de texto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es-ES" noProof="0"/>
              <a:t>Año</a:t>
            </a:r>
          </a:p>
        </p:txBody>
      </p:sp>
      <p:sp>
        <p:nvSpPr>
          <p:cNvPr id="7" name="Marcador de texto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8" name="Marcador de texto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9" name="Marcador de texto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10" name="Marcador de texto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es-ES" noProof="0"/>
              <a:t>Año</a:t>
            </a:r>
          </a:p>
        </p:txBody>
      </p:sp>
      <p:sp>
        <p:nvSpPr>
          <p:cNvPr id="12" name="Marcador de texto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13" name="Marcador de texto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14" name="Marcador de texto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15" name="Marcador de texto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16" name="Marcador de texto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17" name="Marcador de texto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18" name="Marcador de texto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19" name="Marcador de texto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20" name="Marcador de texto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21" name="Marcador de texto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22" name="Marcador de texto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23" name="Marcador de texto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24" name="Marcador de texto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25" name="Marcador de texto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26" name="Marcador de texto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27" name="Marcador de texto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28" name="Marcador de texto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29" name="Marcador de texto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30" name="Marcador de texto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31" name="Marcador de texto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Marcador de fecha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20XX</a:t>
            </a:r>
          </a:p>
        </p:txBody>
      </p:sp>
      <p:sp>
        <p:nvSpPr>
          <p:cNvPr id="37" name="Marcador de pie de página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Presentación para inversores</a:t>
            </a:r>
          </a:p>
        </p:txBody>
      </p:sp>
      <p:sp>
        <p:nvSpPr>
          <p:cNvPr id="38" name="Marcador de número de diapositiva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rcador de posición de SmartArt 6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/>
          </p:nvPr>
        </p:nvSpPr>
        <p:spPr>
          <a:xfrm>
            <a:off x="838200" y="2136776"/>
            <a:ext cx="10515600" cy="3697645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en el icono para agregar un elemento gráfico SmartArt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es-ES" noProof="0"/>
              <a:t>HAGA CLIC PARA MODIFICAR EL ESTILO DEL TÍTULO MAESTRO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20XX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Presentación para inversores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equipo de 4 persona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es-ES" noProof="0"/>
              <a:t>HAGA CLIC PARA MODIFICAR EL ESTILO DEL TÍTULO MAESTRO</a:t>
            </a:r>
          </a:p>
        </p:txBody>
      </p:sp>
      <p:sp>
        <p:nvSpPr>
          <p:cNvPr id="11" name="Marcador de posición de imagen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17" name="Marcador de posición de imagen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18" name="Marcador de posición de imagen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es-ES" noProof="0"/>
              <a:t>Haga clic en el icono para agregar una imagen</a:t>
            </a:r>
          </a:p>
        </p:txBody>
      </p:sp>
      <p:sp>
        <p:nvSpPr>
          <p:cNvPr id="19" name="Marcador de posición de imagen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23" name="Marcador de texto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24" name="Marcador de texto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25" name="Marcador de texto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26" name="Marcador de texto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27" name="Marcador de texto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28" name="Marcador de texto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29" name="Marcador de texto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20XX</a:t>
            </a:r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Presentación para inversores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es-ES" noProof="0" smtClean="0"/>
              <a:t>‹#›</a:t>
            </a:fld>
            <a:endParaRPr lang="es-ES" noProof="0"/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equipo de 8 persona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es-ES" noProof="0"/>
              <a:t>HAGA CLIC PARA MODIFICAR EL ESTILO DEL TÍTULO MAESTRO</a:t>
            </a:r>
          </a:p>
        </p:txBody>
      </p:sp>
      <p:sp>
        <p:nvSpPr>
          <p:cNvPr id="11" name="Marcador de posición de imagen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17" name="Marcador de posición de imagen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18" name="Marcador de posición de imagen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 rtlCol="0"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es-ES" noProof="0"/>
              <a:t>Haga clic en el icono para agregar una imagen</a:t>
            </a:r>
          </a:p>
        </p:txBody>
      </p:sp>
      <p:sp>
        <p:nvSpPr>
          <p:cNvPr id="19" name="Marcador de posición de imagen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26" name="Marcador de texto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23" name="Marcador de texto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27" name="Marcador de texto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24" name="Marcador de texto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28" name="Marcador de texto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25" name="Marcador de texto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29" name="Marcador de texto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55" name="Marcador de posición de imagen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56" name="Marcador de posición de imagen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57" name="Marcador de posición de imagen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es-ES" noProof="0"/>
              <a:t>Haga clic en el icono para agregar una imagen</a:t>
            </a:r>
          </a:p>
        </p:txBody>
      </p:sp>
      <p:sp>
        <p:nvSpPr>
          <p:cNvPr id="58" name="Marcador de posición de imagen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54" name="Marcador de texto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62" name="Marcador de texto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59" name="Marcador de texto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63" name="Marcador de texto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60" name="Marcador de texto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64" name="Marcador de texto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61" name="Marcador de texto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65" name="Marcador de texto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es-ES" noProof="0"/>
              <a:t>20XX</a:t>
            </a:r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es-ES" noProof="0"/>
              <a:t>Presentación para inversores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fld id="{B5CEABB6-07DC-46E8-9B57-56EC44A396E5}" type="slidenum">
              <a:rPr lang="es-ES" noProof="0" smtClean="0"/>
              <a:t>‹#›</a:t>
            </a:fld>
            <a:endParaRPr lang="es-ES" noProof="0"/>
          </a:p>
        </p:txBody>
      </p:sp>
      <p:pic>
        <p:nvPicPr>
          <p:cNvPr id="13" name="Gráfico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es-ES" noProof="0"/>
              <a:t>HAGA CLIC PARA MODIFICAR EL ESTILO DEL TÍTULO MAESTRO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es-ES" noProof="0"/>
              <a:t>Haga clic para agregar contenido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#</a:t>
            </a:r>
          </a:p>
        </p:txBody>
      </p:sp>
      <p:sp>
        <p:nvSpPr>
          <p:cNvPr id="17" name="Marcador de texto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24" name="Marcador de contenido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es-ES" noProof="0"/>
              <a:t>Haga clic para agregar contenido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#</a:t>
            </a:r>
          </a:p>
        </p:txBody>
      </p:sp>
      <p:sp>
        <p:nvSpPr>
          <p:cNvPr id="18" name="Marcador de texto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 noProof="0"/>
              <a:t>HAGA CLIC PARA EDITAR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62665" y="5120722"/>
            <a:ext cx="2342205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25" name="Marcador de contenido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es-ES" noProof="0"/>
              <a:t>Haga clic para agregar contenido</a:t>
            </a:r>
          </a:p>
        </p:txBody>
      </p:sp>
      <p:sp>
        <p:nvSpPr>
          <p:cNvPr id="21" name="Marcador de texto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#</a:t>
            </a:r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sp>
        <p:nvSpPr>
          <p:cNvPr id="22" name="Marcador de contenido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98609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26" name="Marcador de contenido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es-ES" noProof="0"/>
              <a:t>Haga clic para agregar contenido</a:t>
            </a:r>
          </a:p>
        </p:txBody>
      </p:sp>
      <p:sp>
        <p:nvSpPr>
          <p:cNvPr id="14" name="Marcador de texto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#</a:t>
            </a:r>
          </a:p>
        </p:txBody>
      </p:sp>
      <p:sp>
        <p:nvSpPr>
          <p:cNvPr id="23" name="Marcador de texto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EDITAR</a:t>
            </a:r>
          </a:p>
        </p:txBody>
      </p: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Marcador de contenido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9023074" y="5120366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20XX</a:t>
            </a:r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Presentación para inversores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esu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es-ES" noProof="0"/>
              <a:t>HAGA CLIC PARA EDITAR EL ESTILO DEL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76875" y="3682546"/>
            <a:ext cx="5111750" cy="1525588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Marcador de fecha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20XX</a:t>
            </a:r>
          </a:p>
        </p:txBody>
      </p:sp>
      <p:sp>
        <p:nvSpPr>
          <p:cNvPr id="22" name="Marcador de pie de página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Presentación para inversores</a:t>
            </a:r>
          </a:p>
        </p:txBody>
      </p:sp>
      <p:sp>
        <p:nvSpPr>
          <p:cNvPr id="24" name="Marcador de número de diapositiva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ier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rtlCol="0"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PARA EDITAR EL ESTILO DEL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00416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s-ES" noProof="0"/>
              <a:t>Haga clic para editar el estilo de subtítulo del patrón</a:t>
            </a:r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Marcador de fecha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20XX</a:t>
            </a:r>
          </a:p>
        </p:txBody>
      </p:sp>
      <p:sp>
        <p:nvSpPr>
          <p:cNvPr id="10" name="Marcador de pie de página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es-ES" noProof="0"/>
              <a:t>Presentación para inversores</a:t>
            </a:r>
          </a:p>
        </p:txBody>
      </p:sp>
      <p:sp>
        <p:nvSpPr>
          <p:cNvPr id="11" name="Marcador de número de diapositiva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es-ES" noProof="0" smtClean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es-ES" noProof="0"/>
              <a:t>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es-ES" noProof="0"/>
              <a:t>Presentación para inversores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es-ES" noProof="0" smtClean="0"/>
              <a:pPr rtl="0"/>
              <a:t>‹#›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700" r:id="rId12"/>
    <p:sldLayoutId id="2147483692" r:id="rId13"/>
    <p:sldLayoutId id="2147483681" r:id="rId14"/>
    <p:sldLayoutId id="2147483674" r:id="rId15"/>
    <p:sldLayoutId id="2147483675" r:id="rId16"/>
    <p:sldLayoutId id="2147483696" r:id="rId17"/>
    <p:sldLayoutId id="2147483677" r:id="rId18"/>
    <p:sldLayoutId id="2147483678" r:id="rId1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39743" y="-200221"/>
            <a:ext cx="8022547" cy="3758722"/>
          </a:xfrm>
        </p:spPr>
        <p:txBody>
          <a:bodyPr rtlCol="0"/>
          <a:lstStyle/>
          <a:p>
            <a:r>
              <a:rPr lang="es-MX" dirty="0"/>
              <a:t>Sistema Inteligente de Optimización de Rutas: El Futuro de la Logística Aérea.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55660" y="1213228"/>
            <a:ext cx="4941770" cy="1285718"/>
          </a:xfrm>
        </p:spPr>
        <p:txBody>
          <a:bodyPr rtlCol="0">
            <a:normAutofit/>
          </a:bodyPr>
          <a:lstStyle/>
          <a:p>
            <a:pPr rtl="0"/>
            <a:r>
              <a:rPr lang="es-ES" sz="3200" b="1" i="1" dirty="0"/>
              <a:t>Somos</a:t>
            </a:r>
            <a:r>
              <a:rPr lang="es-ES" sz="2400" b="1" i="1" dirty="0"/>
              <a:t> </a:t>
            </a:r>
            <a:r>
              <a:rPr lang="es-ES" sz="5100" b="1" i="1" dirty="0" err="1"/>
              <a:t>NexByte</a:t>
            </a:r>
            <a:endParaRPr lang="es-ES" sz="2400" b="1" i="1" dirty="0"/>
          </a:p>
        </p:txBody>
      </p:sp>
      <p:sp>
        <p:nvSpPr>
          <p:cNvPr id="4" name="Subtítulo 2">
            <a:extLst>
              <a:ext uri="{FF2B5EF4-FFF2-40B4-BE49-F238E27FC236}">
                <a16:creationId xmlns:a16="http://schemas.microsoft.com/office/drawing/2014/main" id="{14D33908-A0F3-3BAC-C5BE-E83595FBB24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/>
        </p:nvSpPr>
        <p:spPr>
          <a:xfrm>
            <a:off x="376051" y="4972364"/>
            <a:ext cx="4367869" cy="175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2000" dirty="0"/>
              <a:t>ALONSO REYES CESAR YAHIR</a:t>
            </a:r>
          </a:p>
          <a:p>
            <a:r>
              <a:rPr lang="es-ES" sz="2000" dirty="0"/>
              <a:t>CASTRO REYES JOSE SANTIAGO</a:t>
            </a:r>
          </a:p>
          <a:p>
            <a:r>
              <a:rPr lang="es-ES" sz="2000" dirty="0"/>
              <a:t>CALDERON CARILLO SEBASTIAN</a:t>
            </a:r>
          </a:p>
          <a:p>
            <a:r>
              <a:rPr lang="es-ES" sz="2000" dirty="0"/>
              <a:t>AMAYA MACIAS EDSON ARMANDO</a:t>
            </a:r>
          </a:p>
          <a:p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0BF0441-12AE-69E5-4121-6EA282452670}"/>
              </a:ext>
            </a:extLst>
          </p:cNvPr>
          <p:cNvSpPr txBox="1"/>
          <p:nvPr/>
        </p:nvSpPr>
        <p:spPr>
          <a:xfrm>
            <a:off x="8680713" y="5443469"/>
            <a:ext cx="313523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MX" sz="2000" b="1" i="1" dirty="0">
                <a:ea typeface="Aptos" panose="020B0004020202020204" pitchFamily="34" charset="0"/>
                <a:cs typeface="Times New Roman" panose="02020603050405020304" pitchFamily="18" charset="0"/>
              </a:rPr>
              <a:t>C</a:t>
            </a:r>
            <a:r>
              <a:rPr lang="es-MX" sz="2000" b="1" i="1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ómo optimizar su recurso más valioso: el tiempo y el dinero.</a:t>
            </a:r>
            <a:endParaRPr lang="es-MX" sz="2000" b="1" i="1" dirty="0"/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031FE9-9059-4FE8-B4AC-9771F23A1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417008"/>
            <a:ext cx="8421688" cy="1325563"/>
          </a:xfrm>
        </p:spPr>
        <p:txBody>
          <a:bodyPr rtlCol="0"/>
          <a:lstStyle/>
          <a:p>
            <a:pPr rtl="0"/>
            <a:r>
              <a:rPr lang="es-ES" b="1" dirty="0"/>
              <a:t>AREA DE OPORTUNIDAD</a:t>
            </a:r>
            <a:br>
              <a:rPr lang="es-ES" b="1" dirty="0"/>
            </a:br>
            <a:r>
              <a:rPr lang="es-ES" sz="1800" dirty="0"/>
              <a:t>un mercado que exige inmediatez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4A2EB3F-4D60-451F-8F45-7D6654D2FC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03020" y="1985598"/>
            <a:ext cx="4031945" cy="365125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rtl="0"/>
            <a:r>
              <a:rPr lang="es-ES" b="1" dirty="0"/>
              <a:t>ACCESIBILIDAD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C1C80FB-53F9-42EE-B1E6-D0F998EC5DF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143000" y="2459984"/>
            <a:ext cx="4373929" cy="1336661"/>
          </a:xfrm>
        </p:spPr>
        <p:txBody>
          <a:bodyPr rtlCol="0">
            <a:normAutofit lnSpcReduction="10000"/>
          </a:bodyPr>
          <a:lstStyle/>
          <a:p>
            <a:pPr marL="457200" lvl="1" indent="0">
              <a:buNone/>
            </a:pPr>
            <a:r>
              <a:rPr lang="es-MX" sz="2000" dirty="0"/>
              <a:t>Detectamos que las soluciones actuales del mercado son o demasiado caras (inalcanzables para medianas empresas) o sumamente complejas de usar.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81BA2B5-6A90-4204-ABDD-7183FBB03A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72228" y="1985597"/>
            <a:ext cx="4031945" cy="365125"/>
          </a:xfrm>
        </p:spPr>
        <p:txBody>
          <a:bodyPr rtlCol="0">
            <a:normAutofit lnSpcReduction="10000"/>
          </a:bodyPr>
          <a:lstStyle/>
          <a:p>
            <a:pPr rtl="0"/>
            <a:r>
              <a:rPr lang="es-ES" b="1" dirty="0"/>
              <a:t>PÚBLICO OBJETIVO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7E7D4C34-22A0-4D54-A07D-E1E9A11463E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446520" y="2459984"/>
            <a:ext cx="4257653" cy="1325563"/>
          </a:xfrm>
        </p:spPr>
        <p:txBody>
          <a:bodyPr rtlCol="0">
            <a:normAutofit/>
          </a:bodyPr>
          <a:lstStyle/>
          <a:p>
            <a:pPr marL="457200" lvl="1" indent="0">
              <a:buNone/>
            </a:pPr>
            <a:r>
              <a:rPr lang="es-MX" sz="2000" dirty="0"/>
              <a:t>Vimos la oportunidad de crear una herramienta </a:t>
            </a:r>
            <a:r>
              <a:rPr lang="es-MX" sz="2000" b="1" dirty="0"/>
              <a:t>ágil, ligera y directa</a:t>
            </a:r>
            <a:r>
              <a:rPr lang="es-MX" sz="2000" dirty="0"/>
              <a:t>, diseñada para el usuario final, no para ingenieros.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51C26CE0-2506-4B44-A26F-C12BFA5B18B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18992" y="4472843"/>
            <a:ext cx="5920228" cy="1057308"/>
          </a:xfrm>
        </p:spPr>
        <p:txBody>
          <a:bodyPr rtlCol="0">
            <a:normAutofit/>
          </a:bodyPr>
          <a:lstStyle/>
          <a:p>
            <a:pPr marL="457200" lvl="1" indent="0">
              <a:buNone/>
            </a:pPr>
            <a:r>
              <a:rPr lang="es-MX" sz="2000" b="1" dirty="0"/>
              <a:t>El objetivo:</a:t>
            </a:r>
            <a:r>
              <a:rPr lang="es-MX" sz="2000" dirty="0"/>
              <a:t> Facilitar la optimización logística con un sistema que entrega respuestas en un solo clic.</a:t>
            </a:r>
          </a:p>
        </p:txBody>
      </p:sp>
      <p:sp>
        <p:nvSpPr>
          <p:cNvPr id="80" name="Marcador de fecha 79">
            <a:extLst>
              <a:ext uri="{FF2B5EF4-FFF2-40B4-BE49-F238E27FC236}">
                <a16:creationId xmlns:a16="http://schemas.microsoft.com/office/drawing/2014/main" id="{BC1F9D86-85D8-4FD0-B0D3-47D778722782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/>
          <a:p>
            <a:pPr rtl="0"/>
            <a:r>
              <a:rPr lang="es-ES"/>
              <a:t>20XX</a:t>
            </a:r>
          </a:p>
        </p:txBody>
      </p:sp>
      <p:sp>
        <p:nvSpPr>
          <p:cNvPr id="81" name="Marcador de pie de página 80">
            <a:extLst>
              <a:ext uri="{FF2B5EF4-FFF2-40B4-BE49-F238E27FC236}">
                <a16:creationId xmlns:a16="http://schemas.microsoft.com/office/drawing/2014/main" id="{E94F1D24-E4A1-4B59-B57E-A28453963B88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es-ES"/>
              <a:t>Presentación para inversores</a:t>
            </a:r>
          </a:p>
        </p:txBody>
      </p:sp>
      <p:sp>
        <p:nvSpPr>
          <p:cNvPr id="82" name="Marcador de número de diapositiva 81">
            <a:extLst>
              <a:ext uri="{FF2B5EF4-FFF2-40B4-BE49-F238E27FC236}">
                <a16:creationId xmlns:a16="http://schemas.microsoft.com/office/drawing/2014/main" id="{CE36A058-BEC2-4BC5-A467-F2EB2A36505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es-ES" smtClean="0"/>
              <a:pPr rtl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93920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708C79-A4AC-4B5D-92DF-600737E4D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237" y="1342625"/>
            <a:ext cx="9125562" cy="585788"/>
          </a:xfrm>
        </p:spPr>
        <p:txBody>
          <a:bodyPr rtlCol="0">
            <a:normAutofit/>
          </a:bodyPr>
          <a:lstStyle/>
          <a:p>
            <a:pPr lvl="0"/>
            <a:r>
              <a:rPr lang="es-MX" b="1" dirty="0"/>
              <a:t>El caos invisible de la planificación aérea.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D779DE4-CAEA-4617-897E-FEC9A2AC2D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6478" y="2682081"/>
            <a:ext cx="2141764" cy="514350"/>
          </a:xfr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es-MX" b="1" dirty="0"/>
              <a:t>Pérdidas millonarias</a:t>
            </a:r>
            <a:endParaRPr lang="es-ES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5FF1291-56EB-4A7B-A198-1D91F9ECC5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92495" y="3676768"/>
            <a:ext cx="2141764" cy="514350"/>
          </a:xfrm>
        </p:spPr>
        <p:txBody>
          <a:bodyPr rtlCol="0"/>
          <a:lstStyle/>
          <a:p>
            <a:r>
              <a:rPr lang="es-MX" b="1" dirty="0"/>
              <a:t>Saturación de información</a:t>
            </a:r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184E21C-7534-4FB5-9709-F7D1A11034F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991360" y="4862512"/>
            <a:ext cx="2141764" cy="514350"/>
          </a:xfrm>
        </p:spPr>
        <p:txBody>
          <a:bodyPr rtlCol="0"/>
          <a:lstStyle/>
          <a:p>
            <a:r>
              <a:rPr lang="es-MX" b="1" dirty="0"/>
              <a:t>Falta de flexibilidad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D7EB25CA-DA83-483D-AF83-0001BDF2DE2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950175" y="2366761"/>
            <a:ext cx="6303932" cy="1010842"/>
          </a:xfrm>
        </p:spPr>
        <p:txBody>
          <a:bodyPr rtlCol="0">
            <a:normAutofit fontScale="92500" lnSpcReduction="20000"/>
          </a:bodyPr>
          <a:lstStyle/>
          <a:p>
            <a:r>
              <a:rPr lang="es-MX" sz="2400" dirty="0"/>
              <a:t>Diseñar rutas de </a:t>
            </a:r>
            <a:r>
              <a:rPr lang="es-MX" sz="2600" dirty="0"/>
              <a:t>vuelo</a:t>
            </a:r>
            <a:r>
              <a:rPr lang="es-MX" sz="2400" dirty="0"/>
              <a:t> a mano o con sistemas antiguos provoca escalas innecesarias y aviones vacíos</a:t>
            </a:r>
            <a:endParaRPr lang="es-ES" sz="2400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B46CE8C6-E12D-4A0D-8553-7FFA31941D5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52095" y="3377603"/>
            <a:ext cx="6002012" cy="1010842"/>
          </a:xfrm>
        </p:spPr>
        <p:txBody>
          <a:bodyPr rtlCol="0">
            <a:normAutofit lnSpcReduction="10000"/>
          </a:bodyPr>
          <a:lstStyle/>
          <a:p>
            <a:pPr marL="457200" lvl="1" indent="0">
              <a:buNone/>
            </a:pPr>
            <a:r>
              <a:rPr lang="es-MX" dirty="0"/>
              <a:t>El personal operativo se abruma al intentar coordinar múltiples destinos, horarios y costos al mismo tiempo.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1C7D5285-85DF-4331-A6FA-1AE847CA47A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715012" y="4614266"/>
            <a:ext cx="5539095" cy="1010842"/>
          </a:xfrm>
        </p:spPr>
        <p:txBody>
          <a:bodyPr rtlCol="0">
            <a:normAutofit lnSpcReduction="10000"/>
          </a:bodyPr>
          <a:lstStyle/>
          <a:p>
            <a:pPr marL="457200" lvl="1" indent="0">
              <a:buNone/>
            </a:pPr>
            <a:r>
              <a:rPr lang="es-MX" dirty="0"/>
              <a:t>Si una ruta cambia o hay un imprevisto, el negocio tarda horas en reaccionar.</a:t>
            </a:r>
          </a:p>
        </p:txBody>
      </p:sp>
      <p:sp>
        <p:nvSpPr>
          <p:cNvPr id="11" name="Marcador de fecha 10">
            <a:extLst>
              <a:ext uri="{FF2B5EF4-FFF2-40B4-BE49-F238E27FC236}">
                <a16:creationId xmlns:a16="http://schemas.microsoft.com/office/drawing/2014/main" id="{40BF6865-7FAE-4B56-A995-ADF1582DCC6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/>
          <a:p>
            <a:pPr rtl="0"/>
            <a:r>
              <a:rPr lang="es-ES"/>
              <a:t>20XX</a:t>
            </a:r>
          </a:p>
        </p:txBody>
      </p:sp>
      <p:sp>
        <p:nvSpPr>
          <p:cNvPr id="13" name="Marcador de número de diapositiva 12">
            <a:extLst>
              <a:ext uri="{FF2B5EF4-FFF2-40B4-BE49-F238E27FC236}">
                <a16:creationId xmlns:a16="http://schemas.microsoft.com/office/drawing/2014/main" id="{E3984D70-BD95-4E1F-9725-902B5D74D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es-ES" smtClean="0"/>
              <a:pPr rtl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8561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031FE9-9059-4FE8-B4AC-9771F23A1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165" y="-368740"/>
            <a:ext cx="5674354" cy="1847813"/>
          </a:xfrm>
        </p:spPr>
        <p:txBody>
          <a:bodyPr rtlCol="0">
            <a:noAutofit/>
          </a:bodyPr>
          <a:lstStyle/>
          <a:p>
            <a:pPr algn="ctr"/>
            <a:r>
              <a:rPr lang="es-ES" sz="2400" b="1" dirty="0"/>
              <a:t>LA SOLUCION SOMOS NOSOTROS</a:t>
            </a:r>
            <a:br>
              <a:rPr lang="es-ES" sz="2400" dirty="0"/>
            </a:br>
            <a:r>
              <a:rPr lang="es-MX" sz="1600" dirty="0"/>
              <a:t>Nuestro Producto: Simplicidad y Control Absoluto</a:t>
            </a:r>
            <a:endParaRPr lang="es-ES" sz="2400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81BA2B5-6A90-4204-ABDD-7183FBB03A0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2796" y="1689183"/>
            <a:ext cx="5433204" cy="365125"/>
          </a:xfrm>
        </p:spPr>
        <p:txBody>
          <a:bodyPr rtlCol="0">
            <a:normAutofit lnSpcReduction="10000"/>
          </a:bodyPr>
          <a:lstStyle/>
          <a:p>
            <a:pPr algn="just" rtl="0"/>
            <a:r>
              <a:rPr lang="es-ES" b="1" dirty="0"/>
              <a:t>CARGA INTELIGENTE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7E7D4C34-22A0-4D54-A07D-E1E9A11463E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38123" y="1958485"/>
            <a:ext cx="4992771" cy="931879"/>
          </a:xfrm>
        </p:spPr>
        <p:txBody>
          <a:bodyPr rtlCol="0">
            <a:noAutofit/>
          </a:bodyPr>
          <a:lstStyle/>
          <a:p>
            <a:pPr algn="just"/>
            <a:r>
              <a:rPr lang="es-MX" sz="1800" dirty="0"/>
              <a:t>Olvídese de capturar datos celda por celda; el sistema absorbe la información de sus destinos de forma automática desde un archivo de texto simple.</a:t>
            </a:r>
            <a:endParaRPr lang="es-ES" sz="1800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301D392D-FB66-47A0-B628-5ADE822A2CF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71556" y="3399888"/>
            <a:ext cx="5433204" cy="365125"/>
          </a:xfrm>
        </p:spPr>
        <p:txBody>
          <a:bodyPr rtlCol="0">
            <a:normAutofit lnSpcReduction="10000"/>
          </a:bodyPr>
          <a:lstStyle/>
          <a:p>
            <a:pPr algn="just" rtl="0"/>
            <a:r>
              <a:rPr lang="es-ES" b="1" dirty="0"/>
              <a:t>VISUALIZACION CLARA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51C26CE0-2506-4B44-A26F-C12BFA5B18B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08598" y="3592321"/>
            <a:ext cx="4992770" cy="857518"/>
          </a:xfrm>
        </p:spPr>
        <p:txBody>
          <a:bodyPr rtlCol="0">
            <a:noAutofit/>
          </a:bodyPr>
          <a:lstStyle/>
          <a:p>
            <a:pPr algn="just"/>
            <a:r>
              <a:rPr lang="es-MX" sz="1800" dirty="0"/>
              <a:t>Muestra de manera ordenada todas las conexiones disponibles, distancias, tiempos y costos en una sola pantalla.</a:t>
            </a:r>
            <a:endParaRPr lang="es-ES" sz="1800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868F40F8-BF35-45E9-B3DD-5436362D746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2796" y="4658299"/>
            <a:ext cx="5433204" cy="365125"/>
          </a:xfrm>
        </p:spPr>
        <p:txBody>
          <a:bodyPr rtlCol="0">
            <a:normAutofit lnSpcReduction="10000"/>
          </a:bodyPr>
          <a:lstStyle/>
          <a:p>
            <a:pPr algn="just" rtl="0"/>
            <a:r>
              <a:rPr lang="es-ES" b="1" dirty="0"/>
              <a:t>DECISIONES RAPIDAS</a:t>
            </a:r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7F39C97C-2DDC-4706-B96C-B02FAE53A42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68165" y="5147181"/>
            <a:ext cx="5433203" cy="1019090"/>
          </a:xfrm>
        </p:spPr>
        <p:txBody>
          <a:bodyPr rtlCol="0">
            <a:normAutofit/>
          </a:bodyPr>
          <a:lstStyle/>
          <a:p>
            <a:pPr marL="457200" lvl="1" indent="0">
              <a:buNone/>
            </a:pPr>
            <a:r>
              <a:rPr lang="es-MX" sz="1800" dirty="0"/>
              <a:t>El sistema encuentra instantáneamente la ruta perfecta según lo que su empresa necesite prioritariamente hoy.</a:t>
            </a:r>
          </a:p>
        </p:txBody>
      </p:sp>
      <p:sp>
        <p:nvSpPr>
          <p:cNvPr id="22" name="Marcador de número de diapositiva 21">
            <a:extLst>
              <a:ext uri="{FF2B5EF4-FFF2-40B4-BE49-F238E27FC236}">
                <a16:creationId xmlns:a16="http://schemas.microsoft.com/office/drawing/2014/main" id="{5D1BD041-3428-4D62-934F-F3FF6D36F90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/>
          <a:p>
            <a:pPr algn="just" rtl="0"/>
            <a:fld id="{B5CEABB6-07DC-46E8-9B57-56EC44A396E5}" type="slidenum">
              <a:rPr lang="es-ES" smtClean="0"/>
              <a:pPr algn="just" rtl="0"/>
              <a:t>4</a:t>
            </a:fld>
            <a:endParaRPr lang="es-ES"/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A38A8120-2EB8-A85D-3185-B04FD89D1493}"/>
              </a:ext>
            </a:extLst>
          </p:cNvPr>
          <p:cNvSpPr txBox="1">
            <a:spLocks/>
          </p:cNvSpPr>
          <p:nvPr/>
        </p:nvSpPr>
        <p:spPr>
          <a:xfrm>
            <a:off x="7615247" y="1165374"/>
            <a:ext cx="4272957" cy="91919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2400" b="1" dirty="0"/>
              <a:t>Operación inteligente en tres clics</a:t>
            </a:r>
            <a:br>
              <a:rPr lang="es-ES" sz="3600" dirty="0"/>
            </a:br>
            <a:endParaRPr lang="es-ES" sz="3600" dirty="0"/>
          </a:p>
        </p:txBody>
      </p:sp>
      <p:sp>
        <p:nvSpPr>
          <p:cNvPr id="4" name="Marcador de texto 4">
            <a:extLst>
              <a:ext uri="{FF2B5EF4-FFF2-40B4-BE49-F238E27FC236}">
                <a16:creationId xmlns:a16="http://schemas.microsoft.com/office/drawing/2014/main" id="{DAF41179-8D92-492D-E83D-589EB8EBDCFF}"/>
              </a:ext>
            </a:extLst>
          </p:cNvPr>
          <p:cNvSpPr txBox="1">
            <a:spLocks/>
          </p:cNvSpPr>
          <p:nvPr/>
        </p:nvSpPr>
        <p:spPr>
          <a:xfrm>
            <a:off x="6041801" y="1689183"/>
            <a:ext cx="4618410" cy="3651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2400" b="1" dirty="0"/>
              <a:t>PASO 1. CARGA DE DATOS</a:t>
            </a:r>
          </a:p>
        </p:txBody>
      </p:sp>
      <p:sp>
        <p:nvSpPr>
          <p:cNvPr id="11" name="Marcador de texto 5">
            <a:extLst>
              <a:ext uri="{FF2B5EF4-FFF2-40B4-BE49-F238E27FC236}">
                <a16:creationId xmlns:a16="http://schemas.microsoft.com/office/drawing/2014/main" id="{7A1665F9-579F-86AC-1E3A-B353D395ADE6}"/>
              </a:ext>
            </a:extLst>
          </p:cNvPr>
          <p:cNvSpPr txBox="1">
            <a:spLocks/>
          </p:cNvSpPr>
          <p:nvPr/>
        </p:nvSpPr>
        <p:spPr>
          <a:xfrm>
            <a:off x="6096000" y="2084564"/>
            <a:ext cx="5250724" cy="93187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2000" dirty="0"/>
              <a:t>El </a:t>
            </a:r>
            <a:r>
              <a:rPr lang="es-ES" sz="1900" dirty="0"/>
              <a:t>usuario</a:t>
            </a:r>
            <a:r>
              <a:rPr lang="es-ES" sz="2000" dirty="0"/>
              <a:t> simplemente selecciona un archivo de texto estándar (</a:t>
            </a:r>
            <a:r>
              <a:rPr lang="es-ES" sz="2000" dirty="0">
                <a:latin typeface="Courier New" panose="02070309020205020404" pitchFamily="49" charset="0"/>
              </a:rPr>
              <a:t>.</a:t>
            </a:r>
            <a:r>
              <a:rPr lang="es-ES" sz="2000" dirty="0" err="1">
                <a:latin typeface="Courier New" panose="02070309020205020404" pitchFamily="49" charset="0"/>
              </a:rPr>
              <a:t>txt</a:t>
            </a:r>
            <a:r>
              <a:rPr lang="es-ES" sz="2000" dirty="0"/>
              <a:t>) que contiene la lista de destinos, distancias y costos.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56046E84-00BE-84DC-A266-0AD41ED8B4A8}"/>
              </a:ext>
            </a:extLst>
          </p:cNvPr>
          <p:cNvSpPr txBox="1">
            <a:spLocks/>
          </p:cNvSpPr>
          <p:nvPr/>
        </p:nvSpPr>
        <p:spPr>
          <a:xfrm>
            <a:off x="6096000" y="3074359"/>
            <a:ext cx="4618410" cy="36512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2400" b="1" dirty="0"/>
              <a:t>PASO 2. SELECCION DE CRITERIO</a:t>
            </a:r>
          </a:p>
        </p:txBody>
      </p:sp>
      <p:sp>
        <p:nvSpPr>
          <p:cNvPr id="13" name="Marcador de texto 7">
            <a:extLst>
              <a:ext uri="{FF2B5EF4-FFF2-40B4-BE49-F238E27FC236}">
                <a16:creationId xmlns:a16="http://schemas.microsoft.com/office/drawing/2014/main" id="{A2D72A9A-28F8-C93E-C45F-34DD2858F123}"/>
              </a:ext>
            </a:extLst>
          </p:cNvPr>
          <p:cNvSpPr txBox="1">
            <a:spLocks/>
          </p:cNvSpPr>
          <p:nvPr/>
        </p:nvSpPr>
        <p:spPr>
          <a:xfrm>
            <a:off x="6096000" y="3516160"/>
            <a:ext cx="5709352" cy="8575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1800" dirty="0"/>
              <a:t>El sistema le pregunta al operador qué desea priorizar hoy: ¿El camino más rápido (tiempo) o el camino más económico (dinero) entre su origen y destino?</a:t>
            </a:r>
          </a:p>
        </p:txBody>
      </p:sp>
      <p:sp>
        <p:nvSpPr>
          <p:cNvPr id="14" name="Marcador de texto 8">
            <a:extLst>
              <a:ext uri="{FF2B5EF4-FFF2-40B4-BE49-F238E27FC236}">
                <a16:creationId xmlns:a16="http://schemas.microsoft.com/office/drawing/2014/main" id="{B00DF5D3-4650-B4A5-694F-487483922A41}"/>
              </a:ext>
            </a:extLst>
          </p:cNvPr>
          <p:cNvSpPr txBox="1">
            <a:spLocks/>
          </p:cNvSpPr>
          <p:nvPr/>
        </p:nvSpPr>
        <p:spPr>
          <a:xfrm>
            <a:off x="6096000" y="4475736"/>
            <a:ext cx="4618410" cy="36512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2400" b="1" dirty="0"/>
              <a:t>PASO 3. RESULTADO INMEDIATO</a:t>
            </a:r>
          </a:p>
        </p:txBody>
      </p:sp>
      <p:sp>
        <p:nvSpPr>
          <p:cNvPr id="15" name="Marcador de texto 9">
            <a:extLst>
              <a:ext uri="{FF2B5EF4-FFF2-40B4-BE49-F238E27FC236}">
                <a16:creationId xmlns:a16="http://schemas.microsoft.com/office/drawing/2014/main" id="{E291ABCB-E77A-6875-1ABD-58DD13E302B5}"/>
              </a:ext>
            </a:extLst>
          </p:cNvPr>
          <p:cNvSpPr txBox="1">
            <a:spLocks/>
          </p:cNvSpPr>
          <p:nvPr/>
        </p:nvSpPr>
        <p:spPr>
          <a:xfrm>
            <a:off x="5679699" y="4995393"/>
            <a:ext cx="6208505" cy="15399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buFont typeface="Arial" panose="020B0604020202020204" pitchFamily="34" charset="0"/>
              <a:buNone/>
            </a:pPr>
            <a:r>
              <a:rPr lang="es-ES" sz="1800" dirty="0"/>
              <a:t>En menos de un segundo, la pantalla muestra de forma ordenada la ruta exacta que debe seguir el avión, desglosando el costo total y el tiempo estimado del viaje.</a:t>
            </a:r>
            <a:endParaRPr lang="es-MX" sz="1800" dirty="0"/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668490FC-5307-6A4D-67D9-C694B99FAA6B}"/>
              </a:ext>
            </a:extLst>
          </p:cNvPr>
          <p:cNvCxnSpPr>
            <a:cxnSpLocks/>
          </p:cNvCxnSpPr>
          <p:nvPr/>
        </p:nvCxnSpPr>
        <p:spPr>
          <a:xfrm flipH="1">
            <a:off x="5660420" y="0"/>
            <a:ext cx="435580" cy="7024255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4941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7E1C88-627C-4655-A4FB-0BB02EDB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180" y="1219625"/>
            <a:ext cx="10073640" cy="3867382"/>
          </a:xfrm>
        </p:spPr>
        <p:txBody>
          <a:bodyPr rtlCol="0">
            <a:normAutofit fontScale="90000"/>
          </a:bodyPr>
          <a:lstStyle/>
          <a:p>
            <a:pPr lvl="1" algn="l"/>
            <a:br>
              <a:rPr lang="es-ES" sz="2700" dirty="0">
                <a:latin typeface="+mj-lt"/>
              </a:rPr>
            </a:br>
            <a:br>
              <a:rPr lang="es-ES" sz="2700" dirty="0">
                <a:latin typeface="+mj-lt"/>
              </a:rPr>
            </a:br>
            <a:r>
              <a:rPr lang="es-MX" sz="2700" b="1" dirty="0">
                <a:latin typeface="+mj-lt"/>
              </a:rPr>
              <a:t>Optimización de Costos:</a:t>
            </a:r>
            <a:r>
              <a:rPr lang="es-MX" sz="2700" dirty="0">
                <a:latin typeface="+mj-lt"/>
              </a:rPr>
              <a:t> Encuentra la ruta que menos dinero le cuesta a su organización.</a:t>
            </a:r>
            <a:br>
              <a:rPr lang="es-MX" sz="2700" dirty="0">
                <a:latin typeface="+mj-lt"/>
              </a:rPr>
            </a:br>
            <a:br>
              <a:rPr lang="es-MX" sz="2700" dirty="0">
                <a:latin typeface="+mj-lt"/>
              </a:rPr>
            </a:br>
            <a:r>
              <a:rPr lang="es-MX" sz="2700" b="1" dirty="0">
                <a:latin typeface="+mj-lt"/>
              </a:rPr>
              <a:t>Optimización de Tiempo:</a:t>
            </a:r>
            <a:r>
              <a:rPr lang="es-MX" sz="2700" dirty="0">
                <a:latin typeface="+mj-lt"/>
              </a:rPr>
              <a:t> Diseña el camino más rápido para cumplir con horarios estrictos y evitar retrasos y saturación entre vuelos.</a:t>
            </a:r>
            <a:br>
              <a:rPr lang="es-MX" sz="2700" dirty="0">
                <a:latin typeface="+mj-lt"/>
              </a:rPr>
            </a:br>
            <a:br>
              <a:rPr lang="es-MX" sz="2700" dirty="0">
                <a:latin typeface="+mj-lt"/>
              </a:rPr>
            </a:br>
            <a:r>
              <a:rPr lang="es-MX" sz="2700" b="1" dirty="0">
                <a:latin typeface="+mj-lt"/>
              </a:rPr>
              <a:t>Cero Desperdicio de Recursos:</a:t>
            </a:r>
            <a:r>
              <a:rPr lang="es-MX" sz="2700" dirty="0">
                <a:latin typeface="+mj-lt"/>
              </a:rPr>
              <a:t> El sistema está diseñado para ser ultra eficiente; no satura sus computadoras ni requiere equipos costosos para funcionar.</a:t>
            </a:r>
            <a:br>
              <a:rPr lang="es-MX" sz="2400" dirty="0">
                <a:latin typeface="+mj-lt"/>
              </a:rPr>
            </a:br>
            <a:endParaRPr lang="es-ES" sz="2800" dirty="0">
              <a:latin typeface="+mj-lt"/>
            </a:endParaRP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23C3221-5F04-4CA7-A86A-EEA8566A1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es-ES" smtClean="0"/>
              <a:pPr rtl="0"/>
              <a:t>5</a:t>
            </a:fld>
            <a:endParaRPr lang="es-E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EA8AA54-58E3-9325-A1A8-5B1B245D840C}"/>
              </a:ext>
            </a:extLst>
          </p:cNvPr>
          <p:cNvSpPr txBox="1"/>
          <p:nvPr/>
        </p:nvSpPr>
        <p:spPr>
          <a:xfrm>
            <a:off x="1532406" y="4940551"/>
            <a:ext cx="893326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2400" dirty="0">
                <a:latin typeface="+mj-lt"/>
              </a:rPr>
              <a:t>Gracias al producto con seguridad le interesara tener la mejor organización de tiempos posible previo a vuelos y así ofrecer el mejor catalogo de vuelos a sus usuarios, aumentar la eficacia y favorecer al tráfico aéreo.</a:t>
            </a:r>
            <a:endParaRPr lang="es-MX" sz="24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54B36C8-BA72-8341-059D-6C460C4C0023}"/>
              </a:ext>
            </a:extLst>
          </p:cNvPr>
          <p:cNvSpPr txBox="1"/>
          <p:nvPr/>
        </p:nvSpPr>
        <p:spPr>
          <a:xfrm>
            <a:off x="3723290" y="420930"/>
            <a:ext cx="61012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800" b="1" i="1" dirty="0">
                <a:latin typeface="+mj-lt"/>
              </a:rPr>
              <a:t>VENTAJAS DEL PRODUCTO</a:t>
            </a:r>
            <a:endParaRPr lang="es-MX" sz="2800" i="1" dirty="0"/>
          </a:p>
        </p:txBody>
      </p:sp>
    </p:spTree>
    <p:extLst>
      <p:ext uri="{BB962C8B-B14F-4D97-AF65-F5344CB8AC3E}">
        <p14:creationId xmlns:p14="http://schemas.microsoft.com/office/powerpoint/2010/main" val="1346372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4E0A63-A388-49B1-A04E-27CE9BD62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029" y="529942"/>
            <a:ext cx="3718785" cy="1750803"/>
          </a:xfrm>
        </p:spPr>
        <p:txBody>
          <a:bodyPr rtlCol="0">
            <a:normAutofit/>
          </a:bodyPr>
          <a:lstStyle/>
          <a:p>
            <a:pPr rtl="0"/>
            <a:r>
              <a:rPr lang="es-ES" sz="4000" dirty="0" err="1"/>
              <a:t>MODELOs</a:t>
            </a:r>
            <a:r>
              <a:rPr lang="es-ES" sz="4000" dirty="0"/>
              <a:t> DE </a:t>
            </a:r>
            <a:r>
              <a:rPr lang="es-ES" sz="4000" dirty="0" err="1"/>
              <a:t>inversion</a:t>
            </a:r>
            <a:endParaRPr lang="es-ES" sz="4000" dirty="0"/>
          </a:p>
        </p:txBody>
      </p:sp>
      <p:sp>
        <p:nvSpPr>
          <p:cNvPr id="32" name="Marcador de fecha 31">
            <a:extLst>
              <a:ext uri="{FF2B5EF4-FFF2-40B4-BE49-F238E27FC236}">
                <a16:creationId xmlns:a16="http://schemas.microsoft.com/office/drawing/2014/main" id="{D5DB19F8-B538-4965-BA90-ED372B99F5DC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/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05C44B1-BA82-483C-BD91-F89067442F9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/>
          <a:p>
            <a:pPr rtl="0"/>
            <a:r>
              <a:rPr lang="es-ES"/>
              <a:t>Presentación para inversores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9ED4A67-3A46-4F54-A12A-EAE1B53E645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/>
          <a:p>
            <a:pPr rtl="0"/>
            <a:fld id="{19B51A1E-902D-48AF-9020-955120F399B6}" type="slidenum">
              <a:rPr lang="es-ES" smtClean="0"/>
              <a:pPr rtl="0"/>
              <a:t>6</a:t>
            </a:fld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C7B367B4-DC50-877E-D1ED-F6074AC10D91}"/>
              </a:ext>
            </a:extLst>
          </p:cNvPr>
          <p:cNvSpPr txBox="1"/>
          <p:nvPr/>
        </p:nvSpPr>
        <p:spPr>
          <a:xfrm>
            <a:off x="4515131" y="729952"/>
            <a:ext cx="7424620" cy="5181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lnSpc>
                <a:spcPct val="115000"/>
              </a:lnSpc>
              <a:spcAft>
                <a:spcPts val="800"/>
              </a:spcAft>
              <a:buSzPts val="1000"/>
              <a:tabLst>
                <a:tab pos="914400" algn="l"/>
              </a:tabLst>
            </a:pPr>
            <a:r>
              <a:rPr lang="es-MX" sz="20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Plan Emprendedor </a:t>
            </a: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s-MX" sz="20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($</a:t>
            </a:r>
            <a:r>
              <a:rPr lang="es-MX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200</a:t>
            </a:r>
            <a:r>
              <a:rPr lang="es-MX" sz="20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USD - Pago Único):</a:t>
            </a:r>
            <a:r>
              <a:rPr lang="es-MX" sz="20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Ideal para empresas locales. Incluye el sistema listo para usar y manual de usuario.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buSzPts val="1000"/>
              <a:tabLst>
                <a:tab pos="914400" algn="l"/>
              </a:tabLst>
            </a:pPr>
            <a:r>
              <a:rPr lang="es-MX" sz="20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Plan Empresarial </a:t>
            </a: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s-MX" sz="20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($</a:t>
            </a:r>
            <a:r>
              <a:rPr lang="es-MX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600</a:t>
            </a:r>
            <a:r>
              <a:rPr lang="es-MX" sz="20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USD - Anual):</a:t>
            </a:r>
            <a:r>
              <a:rPr lang="es-MX" sz="20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Nuestro plan más popular. Incluye la flexibilidad de adaptar el sistema a sus necesidades, herramientas de automatización y soporte técnico prioritario.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buSzPts val="1000"/>
              <a:tabLst>
                <a:tab pos="914400" algn="l"/>
              </a:tabLst>
            </a:pPr>
            <a:r>
              <a:rPr lang="es-MX" sz="20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Plan Corporativo </a:t>
            </a: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s-MX" sz="20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($1,000 USD - Personalizado):</a:t>
            </a:r>
            <a:r>
              <a:rPr lang="es-MX" sz="20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Diseñado para grandes redes logísticas. Incluye soporte 24/7, mantenimiento correctivo ilimitado, diseño a la medida, futuras implementaciones totalmente gratuitas por su confianza.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6FEC949-AC42-18B0-E371-954861C8F2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249" y="2364827"/>
            <a:ext cx="4585978" cy="364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393026"/>
      </p:ext>
    </p:extLst>
  </p:cSld>
  <p:clrMapOvr>
    <a:masterClrMapping/>
  </p:clrMapOvr>
</p:sld>
</file>

<file path=ppt/theme/theme1.xml><?xml version="1.0" encoding="utf-8"?>
<a:theme xmlns:a="http://schemas.openxmlformats.org/drawingml/2006/main" name="Una sola línea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3329044_TF56180624_Win32" id="{CCF276C0-2FDF-463F-B45D-4EDBA039C896}" vid="{7446774B-3392-4AFF-ADF4-7FE1E36E528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F97B18F-50BC-4F30-8373-93489E845F83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42BC90D6-94CF-42F7-AAC4-9CF6824C54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4CF2EF3-001F-4BE9-81B3-86ECBBF942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Presentación de ventas minimalista tenue</Template>
  <TotalTime>66</TotalTime>
  <Words>602</Words>
  <Application>Microsoft Office PowerPoint</Application>
  <PresentationFormat>Widescreen</PresentationFormat>
  <Paragraphs>60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Arial</vt:lpstr>
      <vt:lpstr>Calibri</vt:lpstr>
      <vt:lpstr>Courier New</vt:lpstr>
      <vt:lpstr>Tenorite</vt:lpstr>
      <vt:lpstr>Una sola línea</vt:lpstr>
      <vt:lpstr>Sistema Inteligente de Optimización de Rutas: El Futuro de la Logística Aérea.</vt:lpstr>
      <vt:lpstr>AREA DE OPORTUNIDAD un mercado que exige inmediatez</vt:lpstr>
      <vt:lpstr>El caos invisible de la planificación aérea.</vt:lpstr>
      <vt:lpstr>LA SOLUCION SOMOS NOSOTROS Nuestro Producto: Simplicidad y Control Absoluto</vt:lpstr>
      <vt:lpstr>  Optimización de Costos: Encuentra la ruta que menos dinero le cuesta a su organización.  Optimización de Tiempo: Diseña el camino más rápido para cumplir con horarios estrictos y evitar retrasos y saturación entre vuelos.  Cero Desperdicio de Recursos: El sistema está diseñado para ser ultra eficiente; no satura sus computadoras ni requiere equipos costosos para funcionar. </vt:lpstr>
      <vt:lpstr>MODELOs DE inversion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EDSON ARMANDO AMAYA MACIAS</dc:creator>
  <cp:lastModifiedBy>SEBASTIAN CALDERON CARRILLO</cp:lastModifiedBy>
  <cp:revision>3</cp:revision>
  <dcterms:created xsi:type="dcterms:W3CDTF">2026-05-19T04:01:25Z</dcterms:created>
  <dcterms:modified xsi:type="dcterms:W3CDTF">2026-05-19T17:04:15Z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