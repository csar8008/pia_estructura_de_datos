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1"/>
  </p:notesMasterIdLst>
  <p:handoutMasterIdLst>
    <p:handoutMasterId r:id="rId12"/>
  </p:handoutMasterIdLst>
  <p:sldIdLst>
    <p:sldId id="256" r:id="rId5"/>
    <p:sldId id="262" r:id="rId6"/>
    <p:sldId id="261" r:id="rId7"/>
    <p:sldId id="289" r:id="rId8"/>
    <p:sldId id="264" r:id="rId9"/>
    <p:sldId id="278" r:id="rId10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882" y="13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449ECEF-3E94-4732-BFC3-464D975639BA}" type="datetime1">
              <a:rPr lang="es-ES" smtClean="0"/>
              <a:t>19/05/2026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53551-E181-4730-A9E5-DB7143B35D46}" type="datetime1">
              <a:rPr lang="es-ES" smtClean="0"/>
              <a:pPr/>
              <a:t>19/05/2026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1401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81913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34480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8265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0735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2081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ogram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ala de ti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TÍTULO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17" name="Marcador de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18" name="Marcador de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19" name="Marcador de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4" name="Marcador de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5" name="Marcador de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6" name="Marcador de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7" name="Marcador de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de conteni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5" name="Marcador de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7" name="Marcador de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1" name="Marcador de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AGREGAR UN SUBTÍTULO</a:t>
            </a:r>
          </a:p>
        </p:txBody>
      </p:sp>
      <p:sp>
        <p:nvSpPr>
          <p:cNvPr id="32" name="Marcador de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3" name="Marcador de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AGREGAR UN SUBTÍTULO</a:t>
            </a:r>
          </a:p>
        </p:txBody>
      </p:sp>
      <p:sp>
        <p:nvSpPr>
          <p:cNvPr id="34" name="Marcador de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2" name="Marcador de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AGREGAR UN SUBTÍTULO</a:t>
            </a:r>
          </a:p>
        </p:txBody>
      </p:sp>
      <p:sp>
        <p:nvSpPr>
          <p:cNvPr id="13" name="Marcador de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s-ES" noProof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de conteni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5" name="Marcador de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7" name="Marcador de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8" name="Marcador de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9" name="Marcador de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0" name="Marcador de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3" name="Marcador de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4" name="Marcador de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‹#›</a:t>
            </a:fld>
            <a:endParaRPr lang="es-ES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fech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10" name="Marcador de pie de página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11" name="Marcador de número de diapositiva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to de secció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2" name="Marcador de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3" name="Marcador de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4" name="Marcador de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5" name="Marcador de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6" name="Marcador de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7" name="Marcador de fech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18" name="Marcador de pie de página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19" name="Marcador de número de diapositiva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tr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 EL TEXTO MAESTRO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 EL TEXTO MAESTRO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 EL TEXTO MAESTRO</a:t>
            </a:r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tiva de mercado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Marcador de conteni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conteni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ido d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 EL TEXTO MAESTRO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 EL TEXTO MAESTRO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20" name="Marcador de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5" name="Marcador de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6" name="Marcador de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7" name="Marcador de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8" name="Marcador de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9" name="Marcador de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1" name="Marcador de fech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22" name="Marcador de pie de página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24" name="Marcador de número de diapositiva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onogram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Año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8" name="Marcador de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9" name="Marcador de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0" name="Marcador de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Año</a:t>
            </a:r>
          </a:p>
        </p:txBody>
      </p:sp>
      <p:sp>
        <p:nvSpPr>
          <p:cNvPr id="12" name="Marcador de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5" name="Marcador de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6" name="Marcador de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7" name="Marcador de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8" name="Marcador de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9" name="Marcador de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0" name="Marcador de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1" name="Marcador de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2" name="Marcador de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3" name="Marcador de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4" name="Marcador de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5" name="Marcador de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6" name="Marcador de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7" name="Marcador de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8" name="Marcador de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9" name="Marcador de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30" name="Marcador de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31" name="Marcador de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Marcador de fech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37" name="Marcador de pie de página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38" name="Marcador de número de diapositiva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equipo de 4 persona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posición de imagen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8" name="Marcador de posición de imagen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19" name="Marcador de posición de imagen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6" name="Marcador de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8" name="Marcador de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9" name="Marcador de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equipo de 8 persona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posición de imagen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8" name="Marcador de posición de imagen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19" name="Marcador de posición de imagen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6" name="Marcador de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8" name="Marcador de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9" name="Marcador de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55" name="Marcador de posición de imagen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6" name="Marcador de posición de imagen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7" name="Marcador de posición de imagen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58" name="Marcador de posición de imagen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4" name="Marcador de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2" name="Marcador de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59" name="Marcador de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3" name="Marcador de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0" name="Marcador de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4" name="Marcador de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1" name="Marcador de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5" name="Marcador de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conteni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8" name="Marcador de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conteni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conteni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conteni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fech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22" name="Marcador de pie de página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24" name="Marcador de número de diapositiva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ier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Marcador de fech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10" name="Marcador de pie de página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11" name="Marcador de número de diapositiva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9743" y="-200221"/>
            <a:ext cx="8022547" cy="3758722"/>
          </a:xfrm>
        </p:spPr>
        <p:txBody>
          <a:bodyPr rtlCol="0"/>
          <a:lstStyle/>
          <a:p>
            <a:r>
              <a:rPr lang="es-MX" dirty="0"/>
              <a:t>Sistema Inteligente de Optimización de Rutas: El Futuro de la Logística Aérea.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5660" y="1213228"/>
            <a:ext cx="4941770" cy="1285718"/>
          </a:xfrm>
        </p:spPr>
        <p:txBody>
          <a:bodyPr rtlCol="0">
            <a:normAutofit/>
          </a:bodyPr>
          <a:lstStyle/>
          <a:p>
            <a:pPr rtl="0"/>
            <a:r>
              <a:rPr lang="es-ES" sz="3200" b="1" i="1" dirty="0"/>
              <a:t>Somos</a:t>
            </a:r>
            <a:r>
              <a:rPr lang="es-ES" sz="2400" b="1" i="1" dirty="0"/>
              <a:t> </a:t>
            </a:r>
            <a:r>
              <a:rPr lang="es-ES" sz="5100" b="1" i="1" dirty="0" err="1"/>
              <a:t>NexByte</a:t>
            </a:r>
            <a:endParaRPr lang="es-ES" sz="2400" b="1" i="1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14D33908-A0F3-3BAC-C5BE-E83595FBB24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376051" y="4972364"/>
            <a:ext cx="4367869" cy="175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/>
              <a:t>ALONSO REYES CESAR YAHIR</a:t>
            </a:r>
          </a:p>
          <a:p>
            <a:r>
              <a:rPr lang="es-ES" sz="2000" dirty="0"/>
              <a:t>CASTRO REYES JOSE SANTIAGO</a:t>
            </a:r>
          </a:p>
          <a:p>
            <a:r>
              <a:rPr lang="es-ES" sz="2000" dirty="0"/>
              <a:t>CALDERON CARILLO SEBASTIAN</a:t>
            </a:r>
          </a:p>
          <a:p>
            <a:r>
              <a:rPr lang="es-ES" sz="2000" dirty="0"/>
              <a:t>AMAYA MACIAS EDSON ARMANDO</a:t>
            </a:r>
          </a:p>
          <a:p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0BF0441-12AE-69E5-4121-6EA282452670}"/>
              </a:ext>
            </a:extLst>
          </p:cNvPr>
          <p:cNvSpPr txBox="1"/>
          <p:nvPr/>
        </p:nvSpPr>
        <p:spPr>
          <a:xfrm>
            <a:off x="8680713" y="5443469"/>
            <a:ext cx="31352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sz="2000" b="1" i="1" dirty="0"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lang="es-MX" sz="2000" b="1" i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ómo optimizar su recurso más valioso: el tiempo y el dinero.</a:t>
            </a:r>
            <a:endParaRPr lang="es-MX" sz="2000" b="1" i="1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417008"/>
            <a:ext cx="8421688" cy="1325563"/>
          </a:xfrm>
        </p:spPr>
        <p:txBody>
          <a:bodyPr rtlCol="0"/>
          <a:lstStyle/>
          <a:p>
            <a:pPr rtl="0"/>
            <a:r>
              <a:rPr lang="es-ES" b="1" dirty="0"/>
              <a:t>AREA DE OPORTUNIDAD</a:t>
            </a:r>
            <a:br>
              <a:rPr lang="es-ES" b="1" dirty="0"/>
            </a:br>
            <a:r>
              <a:rPr lang="es-ES" sz="1800" dirty="0"/>
              <a:t>un mercado que exige inmediatez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03020" y="1985598"/>
            <a:ext cx="4031945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rtl="0"/>
            <a:r>
              <a:rPr lang="es-ES" b="1" dirty="0"/>
              <a:t>ACCESIBILIDAD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43000" y="2459984"/>
            <a:ext cx="4373929" cy="1336661"/>
          </a:xfrm>
        </p:spPr>
        <p:txBody>
          <a:bodyPr rtlCol="0">
            <a:normAutofit lnSpcReduction="10000"/>
          </a:bodyPr>
          <a:lstStyle/>
          <a:p>
            <a:pPr marL="457200" lvl="1" indent="0">
              <a:buNone/>
            </a:pPr>
            <a:r>
              <a:rPr lang="es-MX" sz="2000" dirty="0"/>
              <a:t>Detectamos que las soluciones actuales del mercado son o demasiado caras (inalcanzables para medianas empresas) o sumamente complejas de usar.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2228" y="1985597"/>
            <a:ext cx="4031945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s-ES" b="1" dirty="0"/>
              <a:t>PÚBLICO OBJETIVO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46520" y="2459984"/>
            <a:ext cx="4257653" cy="1325563"/>
          </a:xfrm>
        </p:spPr>
        <p:txBody>
          <a:bodyPr rtlCol="0">
            <a:normAutofit/>
          </a:bodyPr>
          <a:lstStyle/>
          <a:p>
            <a:pPr marL="457200" lvl="1" indent="0">
              <a:buNone/>
            </a:pPr>
            <a:r>
              <a:rPr lang="es-MX" sz="2000" dirty="0"/>
              <a:t>Vimos la oportunidad de crear una herramienta </a:t>
            </a:r>
            <a:r>
              <a:rPr lang="es-MX" sz="2000" b="1" dirty="0"/>
              <a:t>ágil, ligera y directa</a:t>
            </a:r>
            <a:r>
              <a:rPr lang="es-MX" sz="2000" dirty="0"/>
              <a:t>, diseñada para el usuario final, no para ingenieros.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18992" y="4472843"/>
            <a:ext cx="5920228" cy="1057308"/>
          </a:xfrm>
        </p:spPr>
        <p:txBody>
          <a:bodyPr rtlCol="0">
            <a:normAutofit/>
          </a:bodyPr>
          <a:lstStyle/>
          <a:p>
            <a:pPr marL="457200" lvl="1" indent="0">
              <a:buNone/>
            </a:pPr>
            <a:r>
              <a:rPr lang="es-MX" sz="2000" b="1" dirty="0"/>
              <a:t>El objetivo:</a:t>
            </a:r>
            <a:r>
              <a:rPr lang="es-MX" sz="2000" dirty="0"/>
              <a:t> Facilitar la optimización logística con un sistema que entrega respuestas en un solo clic.</a:t>
            </a:r>
          </a:p>
        </p:txBody>
      </p:sp>
      <p:sp>
        <p:nvSpPr>
          <p:cNvPr id="80" name="Marcador de fecha 79">
            <a:extLst>
              <a:ext uri="{FF2B5EF4-FFF2-40B4-BE49-F238E27FC236}">
                <a16:creationId xmlns:a16="http://schemas.microsoft.com/office/drawing/2014/main" id="{BC1F9D86-85D8-4FD0-B0D3-47D77872278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81" name="Marcador de pie de página 80">
            <a:extLst>
              <a:ext uri="{FF2B5EF4-FFF2-40B4-BE49-F238E27FC236}">
                <a16:creationId xmlns:a16="http://schemas.microsoft.com/office/drawing/2014/main" id="{E94F1D24-E4A1-4B59-B57E-A28453963B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Presentación para inversores</a:t>
            </a:r>
          </a:p>
        </p:txBody>
      </p:sp>
      <p:sp>
        <p:nvSpPr>
          <p:cNvPr id="82" name="Marcador de número de diapositiva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237" y="1342625"/>
            <a:ext cx="9125562" cy="585788"/>
          </a:xfrm>
        </p:spPr>
        <p:txBody>
          <a:bodyPr rtlCol="0">
            <a:normAutofit/>
          </a:bodyPr>
          <a:lstStyle/>
          <a:p>
            <a:pPr lvl="0"/>
            <a:r>
              <a:rPr lang="es-MX" b="1" dirty="0"/>
              <a:t>El caos invisible de la planificación aérea.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478" y="2682081"/>
            <a:ext cx="2141764" cy="514350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es-MX" b="1" dirty="0"/>
              <a:t>Pérdidas millonarias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92495" y="3676768"/>
            <a:ext cx="2141764" cy="514350"/>
          </a:xfrm>
        </p:spPr>
        <p:txBody>
          <a:bodyPr rtlCol="0"/>
          <a:lstStyle/>
          <a:p>
            <a:r>
              <a:rPr lang="es-MX" b="1" dirty="0"/>
              <a:t>Saturación de información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84E21C-7534-4FB5-9709-F7D1A1103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991360" y="4862512"/>
            <a:ext cx="2141764" cy="514350"/>
          </a:xfrm>
        </p:spPr>
        <p:txBody>
          <a:bodyPr rtlCol="0"/>
          <a:lstStyle/>
          <a:p>
            <a:r>
              <a:rPr lang="es-MX" b="1" dirty="0"/>
              <a:t>Falta de flexibilidad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D7EB25CA-DA83-483D-AF83-0001BDF2DE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50175" y="2366761"/>
            <a:ext cx="6303932" cy="1010842"/>
          </a:xfrm>
        </p:spPr>
        <p:txBody>
          <a:bodyPr rtlCol="0">
            <a:normAutofit fontScale="92500" lnSpcReduction="20000"/>
          </a:bodyPr>
          <a:lstStyle/>
          <a:p>
            <a:r>
              <a:rPr lang="es-MX" sz="2400" dirty="0"/>
              <a:t>Diseñar rutas de </a:t>
            </a:r>
            <a:r>
              <a:rPr lang="es-MX" sz="2600" dirty="0"/>
              <a:t>vuelo</a:t>
            </a:r>
            <a:r>
              <a:rPr lang="es-MX" sz="2400" dirty="0"/>
              <a:t> a mano o con sistemas antiguos provoca escalas innecesarias y aviones vacíos</a:t>
            </a:r>
            <a:endParaRPr lang="es-ES" sz="2400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52095" y="3377603"/>
            <a:ext cx="6002012" cy="1010842"/>
          </a:xfrm>
        </p:spPr>
        <p:txBody>
          <a:bodyPr rtlCol="0">
            <a:normAutofit lnSpcReduction="10000"/>
          </a:bodyPr>
          <a:lstStyle/>
          <a:p>
            <a:pPr marL="457200" lvl="1" indent="0">
              <a:buNone/>
            </a:pPr>
            <a:r>
              <a:rPr lang="es-MX" dirty="0"/>
              <a:t>El personal operativo se abruma al intentar coordinar múltiples destinos, horarios y costos al mismo tiempo.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15012" y="4614266"/>
            <a:ext cx="5539095" cy="1010842"/>
          </a:xfrm>
        </p:spPr>
        <p:txBody>
          <a:bodyPr rtlCol="0">
            <a:normAutofit lnSpcReduction="10000"/>
          </a:bodyPr>
          <a:lstStyle/>
          <a:p>
            <a:pPr marL="457200" lvl="1" indent="0">
              <a:buNone/>
            </a:pPr>
            <a:r>
              <a:rPr lang="es-MX" dirty="0"/>
              <a:t>Si una ruta cambia o hay un imprevisto, el negocio tarda horas en reaccionar.</a:t>
            </a:r>
          </a:p>
        </p:txBody>
      </p:sp>
      <p:sp>
        <p:nvSpPr>
          <p:cNvPr id="11" name="Marcador de fecha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65" y="-368740"/>
            <a:ext cx="5674354" cy="1847813"/>
          </a:xfrm>
        </p:spPr>
        <p:txBody>
          <a:bodyPr rtlCol="0">
            <a:noAutofit/>
          </a:bodyPr>
          <a:lstStyle/>
          <a:p>
            <a:pPr algn="ctr"/>
            <a:r>
              <a:rPr lang="es-ES" sz="2400" b="1" dirty="0"/>
              <a:t>LA SOLUCION SOMOS NOSOTROS</a:t>
            </a:r>
            <a:br>
              <a:rPr lang="es-ES" sz="2400" dirty="0"/>
            </a:br>
            <a:r>
              <a:rPr lang="es-MX" sz="1600" dirty="0"/>
              <a:t>Nuestro Producto: Simplicidad y Control Absoluto</a:t>
            </a:r>
            <a:endParaRPr lang="es-ES" sz="2400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2796" y="1689183"/>
            <a:ext cx="5433204" cy="365125"/>
          </a:xfrm>
        </p:spPr>
        <p:txBody>
          <a:bodyPr rtlCol="0">
            <a:normAutofit lnSpcReduction="10000"/>
          </a:bodyPr>
          <a:lstStyle/>
          <a:p>
            <a:pPr algn="just" rtl="0"/>
            <a:r>
              <a:rPr lang="es-ES" b="1" dirty="0"/>
              <a:t>CARGA INTELIGENTE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8123" y="1958485"/>
            <a:ext cx="4992771" cy="931879"/>
          </a:xfrm>
        </p:spPr>
        <p:txBody>
          <a:bodyPr rtlCol="0">
            <a:noAutofit/>
          </a:bodyPr>
          <a:lstStyle/>
          <a:p>
            <a:pPr algn="just"/>
            <a:r>
              <a:rPr lang="es-MX" sz="1800" dirty="0"/>
              <a:t>Olvídese de capturar datos celda por celda; el sistema absorbe la información de sus destinos de forma automática desde un archivo de texto simple.</a:t>
            </a:r>
            <a:endParaRPr lang="es-ES" sz="1800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1556" y="3399888"/>
            <a:ext cx="5433204" cy="365125"/>
          </a:xfrm>
        </p:spPr>
        <p:txBody>
          <a:bodyPr rtlCol="0">
            <a:normAutofit lnSpcReduction="10000"/>
          </a:bodyPr>
          <a:lstStyle/>
          <a:p>
            <a:pPr algn="just" rtl="0"/>
            <a:r>
              <a:rPr lang="es-ES" b="1" dirty="0"/>
              <a:t>VISUALIZACION CLARA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08598" y="3592321"/>
            <a:ext cx="4992770" cy="857518"/>
          </a:xfrm>
        </p:spPr>
        <p:txBody>
          <a:bodyPr rtlCol="0">
            <a:noAutofit/>
          </a:bodyPr>
          <a:lstStyle/>
          <a:p>
            <a:pPr algn="just"/>
            <a:r>
              <a:rPr lang="es-MX" sz="1800" dirty="0"/>
              <a:t>Muestra de manera ordenada todas las conexiones disponibles, distancias, tiempos y costos en una sola pantalla.</a:t>
            </a:r>
            <a:endParaRPr lang="es-ES" sz="1800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8598" y="4870123"/>
            <a:ext cx="5433204" cy="365125"/>
          </a:xfrm>
        </p:spPr>
        <p:txBody>
          <a:bodyPr rtlCol="0">
            <a:normAutofit lnSpcReduction="10000"/>
          </a:bodyPr>
          <a:lstStyle/>
          <a:p>
            <a:pPr algn="just" rtl="0"/>
            <a:r>
              <a:rPr lang="es-ES" b="1" dirty="0"/>
              <a:t>DECISIONES RAPIDAS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7F39C97C-2DDC-4706-B96C-B02FAE53A42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68165" y="5147181"/>
            <a:ext cx="5433203" cy="1019090"/>
          </a:xfrm>
        </p:spPr>
        <p:txBody>
          <a:bodyPr rtlCol="0">
            <a:normAutofit/>
          </a:bodyPr>
          <a:lstStyle/>
          <a:p>
            <a:pPr marL="457200" lvl="1" indent="0">
              <a:buNone/>
            </a:pPr>
            <a:r>
              <a:rPr lang="es-MX" sz="1800" dirty="0"/>
              <a:t>El sistema encuentra instantáneamente la ruta perfecta según lo que su empresa necesite prioritariamente hoy.</a:t>
            </a:r>
          </a:p>
        </p:txBody>
      </p:sp>
      <p:sp>
        <p:nvSpPr>
          <p:cNvPr id="22" name="Marcador de número de diapositiva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algn="just" rtl="0"/>
            <a:fld id="{B5CEABB6-07DC-46E8-9B57-56EC44A396E5}" type="slidenum">
              <a:rPr lang="es-ES" smtClean="0"/>
              <a:pPr algn="just" rtl="0"/>
              <a:t>4</a:t>
            </a:fld>
            <a:endParaRPr lang="es-ES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A38A8120-2EB8-A85D-3185-B04FD89D1493}"/>
              </a:ext>
            </a:extLst>
          </p:cNvPr>
          <p:cNvSpPr txBox="1">
            <a:spLocks/>
          </p:cNvSpPr>
          <p:nvPr/>
        </p:nvSpPr>
        <p:spPr>
          <a:xfrm>
            <a:off x="7615247" y="1165374"/>
            <a:ext cx="4272957" cy="9191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400" b="1" dirty="0"/>
              <a:t>Operación inteligente en tres clics</a:t>
            </a:r>
            <a:br>
              <a:rPr lang="es-ES" sz="3600" dirty="0"/>
            </a:br>
            <a:endParaRPr lang="es-ES" sz="3600" dirty="0"/>
          </a:p>
        </p:txBody>
      </p:sp>
      <p:sp>
        <p:nvSpPr>
          <p:cNvPr id="4" name="Marcador de texto 4">
            <a:extLst>
              <a:ext uri="{FF2B5EF4-FFF2-40B4-BE49-F238E27FC236}">
                <a16:creationId xmlns:a16="http://schemas.microsoft.com/office/drawing/2014/main" id="{DAF41179-8D92-492D-E83D-589EB8EBDCFF}"/>
              </a:ext>
            </a:extLst>
          </p:cNvPr>
          <p:cNvSpPr txBox="1">
            <a:spLocks/>
          </p:cNvSpPr>
          <p:nvPr/>
        </p:nvSpPr>
        <p:spPr>
          <a:xfrm>
            <a:off x="6041801" y="1689183"/>
            <a:ext cx="4618410" cy="3651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b="1" dirty="0"/>
              <a:t>PASO 1. CARGA DE DATOS</a:t>
            </a:r>
          </a:p>
        </p:txBody>
      </p:sp>
      <p:sp>
        <p:nvSpPr>
          <p:cNvPr id="11" name="Marcador de texto 5">
            <a:extLst>
              <a:ext uri="{FF2B5EF4-FFF2-40B4-BE49-F238E27FC236}">
                <a16:creationId xmlns:a16="http://schemas.microsoft.com/office/drawing/2014/main" id="{7A1665F9-579F-86AC-1E3A-B353D395ADE6}"/>
              </a:ext>
            </a:extLst>
          </p:cNvPr>
          <p:cNvSpPr txBox="1">
            <a:spLocks/>
          </p:cNvSpPr>
          <p:nvPr/>
        </p:nvSpPr>
        <p:spPr>
          <a:xfrm>
            <a:off x="6096000" y="2084564"/>
            <a:ext cx="5250724" cy="9318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000" dirty="0"/>
              <a:t>El </a:t>
            </a:r>
            <a:r>
              <a:rPr lang="es-ES" sz="1900" dirty="0"/>
              <a:t>usuario</a:t>
            </a:r>
            <a:r>
              <a:rPr lang="es-ES" sz="2000" dirty="0"/>
              <a:t> simplemente selecciona un archivo de texto estándar (</a:t>
            </a:r>
            <a:r>
              <a:rPr lang="es-ES" sz="2000" dirty="0">
                <a:latin typeface="Courier New" panose="02070309020205020404" pitchFamily="49" charset="0"/>
              </a:rPr>
              <a:t>.</a:t>
            </a:r>
            <a:r>
              <a:rPr lang="es-ES" sz="2000" dirty="0" err="1">
                <a:latin typeface="Courier New" panose="02070309020205020404" pitchFamily="49" charset="0"/>
              </a:rPr>
              <a:t>txt</a:t>
            </a:r>
            <a:r>
              <a:rPr lang="es-ES" sz="2000" dirty="0"/>
              <a:t>) que contiene la lista de destinos, distancias y costos.</a:t>
            </a:r>
          </a:p>
        </p:txBody>
      </p: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56046E84-00BE-84DC-A266-0AD41ED8B4A8}"/>
              </a:ext>
            </a:extLst>
          </p:cNvPr>
          <p:cNvSpPr txBox="1">
            <a:spLocks/>
          </p:cNvSpPr>
          <p:nvPr/>
        </p:nvSpPr>
        <p:spPr>
          <a:xfrm>
            <a:off x="6063812" y="3329564"/>
            <a:ext cx="4618410" cy="36512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b="1" dirty="0"/>
              <a:t>PASO 2. SELECCION DE CRITERIO</a:t>
            </a:r>
          </a:p>
        </p:txBody>
      </p:sp>
      <p:sp>
        <p:nvSpPr>
          <p:cNvPr id="13" name="Marcador de texto 7">
            <a:extLst>
              <a:ext uri="{FF2B5EF4-FFF2-40B4-BE49-F238E27FC236}">
                <a16:creationId xmlns:a16="http://schemas.microsoft.com/office/drawing/2014/main" id="{A2D72A9A-28F8-C93E-C45F-34DD2858F123}"/>
              </a:ext>
            </a:extLst>
          </p:cNvPr>
          <p:cNvSpPr txBox="1">
            <a:spLocks/>
          </p:cNvSpPr>
          <p:nvPr/>
        </p:nvSpPr>
        <p:spPr>
          <a:xfrm>
            <a:off x="6096000" y="3516160"/>
            <a:ext cx="5709352" cy="8575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800" dirty="0"/>
              <a:t>El sistema le pregunta al operador qué desea priorizar hoy: ¿El camino más rápido (tiempo) o el camino más económico (dinero) entre su origen y destino?</a:t>
            </a:r>
          </a:p>
        </p:txBody>
      </p:sp>
      <p:sp>
        <p:nvSpPr>
          <p:cNvPr id="14" name="Marcador de texto 8">
            <a:extLst>
              <a:ext uri="{FF2B5EF4-FFF2-40B4-BE49-F238E27FC236}">
                <a16:creationId xmlns:a16="http://schemas.microsoft.com/office/drawing/2014/main" id="{B00DF5D3-4650-B4A5-694F-487483922A41}"/>
              </a:ext>
            </a:extLst>
          </p:cNvPr>
          <p:cNvSpPr txBox="1">
            <a:spLocks/>
          </p:cNvSpPr>
          <p:nvPr/>
        </p:nvSpPr>
        <p:spPr>
          <a:xfrm>
            <a:off x="6096000" y="4707144"/>
            <a:ext cx="4618410" cy="36512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b="1" dirty="0"/>
              <a:t>PASO 3. RESULTADO INMEDIATO</a:t>
            </a:r>
          </a:p>
        </p:txBody>
      </p:sp>
      <p:sp>
        <p:nvSpPr>
          <p:cNvPr id="15" name="Marcador de texto 9">
            <a:extLst>
              <a:ext uri="{FF2B5EF4-FFF2-40B4-BE49-F238E27FC236}">
                <a16:creationId xmlns:a16="http://schemas.microsoft.com/office/drawing/2014/main" id="{E291ABCB-E77A-6875-1ABD-58DD13E302B5}"/>
              </a:ext>
            </a:extLst>
          </p:cNvPr>
          <p:cNvSpPr txBox="1">
            <a:spLocks/>
          </p:cNvSpPr>
          <p:nvPr/>
        </p:nvSpPr>
        <p:spPr>
          <a:xfrm>
            <a:off x="5679699" y="4995393"/>
            <a:ext cx="6208505" cy="1539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just">
              <a:buFont typeface="Arial" panose="020B0604020202020204" pitchFamily="34" charset="0"/>
              <a:buNone/>
            </a:pPr>
            <a:r>
              <a:rPr lang="es-ES" sz="1800" dirty="0"/>
              <a:t>En menos de un segundo, la pantalla muestra de forma ordenada la ruta exacta que debe seguir el avión, desglosando el costo total y el tiempo estimado del viaje.</a:t>
            </a:r>
            <a:endParaRPr lang="es-MX" sz="180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668490FC-5307-6A4D-67D9-C694B99FAA6B}"/>
              </a:ext>
            </a:extLst>
          </p:cNvPr>
          <p:cNvCxnSpPr>
            <a:cxnSpLocks/>
          </p:cNvCxnSpPr>
          <p:nvPr/>
        </p:nvCxnSpPr>
        <p:spPr>
          <a:xfrm flipH="1">
            <a:off x="5660420" y="0"/>
            <a:ext cx="435580" cy="702425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180" y="1219625"/>
            <a:ext cx="10073640" cy="3867382"/>
          </a:xfrm>
        </p:spPr>
        <p:txBody>
          <a:bodyPr rtlCol="0">
            <a:normAutofit fontScale="90000"/>
          </a:bodyPr>
          <a:lstStyle/>
          <a:p>
            <a:pPr lvl="1" algn="l"/>
            <a:br>
              <a:rPr lang="es-ES" sz="2700" dirty="0">
                <a:latin typeface="+mj-lt"/>
              </a:rPr>
            </a:br>
            <a:br>
              <a:rPr lang="es-ES" sz="2700" dirty="0">
                <a:latin typeface="+mj-lt"/>
              </a:rPr>
            </a:br>
            <a:r>
              <a:rPr lang="es-MX" sz="2700" b="1" dirty="0">
                <a:latin typeface="+mj-lt"/>
              </a:rPr>
              <a:t>Optimización de Costos:</a:t>
            </a:r>
            <a:r>
              <a:rPr lang="es-MX" sz="2700" dirty="0">
                <a:latin typeface="+mj-lt"/>
              </a:rPr>
              <a:t> Encuentra la ruta que menos dinero le cuesta a su organización.</a:t>
            </a:r>
            <a:br>
              <a:rPr lang="es-MX" sz="2700" dirty="0">
                <a:latin typeface="+mj-lt"/>
              </a:rPr>
            </a:br>
            <a:br>
              <a:rPr lang="es-MX" sz="2700" dirty="0">
                <a:latin typeface="+mj-lt"/>
              </a:rPr>
            </a:br>
            <a:r>
              <a:rPr lang="es-MX" sz="2700" b="1" dirty="0">
                <a:latin typeface="+mj-lt"/>
              </a:rPr>
              <a:t>Optimización de Tiempo:</a:t>
            </a:r>
            <a:r>
              <a:rPr lang="es-MX" sz="2700" dirty="0">
                <a:latin typeface="+mj-lt"/>
              </a:rPr>
              <a:t> Diseña el camino más rápido para cumplir con horarios estrictos y evitar retrasos y saturación entre vuelos.</a:t>
            </a:r>
            <a:br>
              <a:rPr lang="es-MX" sz="2700" dirty="0">
                <a:latin typeface="+mj-lt"/>
              </a:rPr>
            </a:br>
            <a:br>
              <a:rPr lang="es-MX" sz="2700" dirty="0">
                <a:latin typeface="+mj-lt"/>
              </a:rPr>
            </a:br>
            <a:r>
              <a:rPr lang="es-MX" sz="2700" b="1" dirty="0">
                <a:latin typeface="+mj-lt"/>
              </a:rPr>
              <a:t>Cero Desperdicio de Recursos:</a:t>
            </a:r>
            <a:r>
              <a:rPr lang="es-MX" sz="2700" dirty="0">
                <a:latin typeface="+mj-lt"/>
              </a:rPr>
              <a:t> El sistema está diseñado para ser ultra eficiente; no satura sus computadoras ni requiere equipos costosos para funcionar.</a:t>
            </a:r>
            <a:br>
              <a:rPr lang="es-MX" sz="2400" dirty="0">
                <a:latin typeface="+mj-lt"/>
              </a:rPr>
            </a:br>
            <a:endParaRPr lang="es-ES" sz="2800" dirty="0">
              <a:latin typeface="+mj-lt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5</a:t>
            </a:fld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EA8AA54-58E3-9325-A1A8-5B1B245D840C}"/>
              </a:ext>
            </a:extLst>
          </p:cNvPr>
          <p:cNvSpPr txBox="1"/>
          <p:nvPr/>
        </p:nvSpPr>
        <p:spPr>
          <a:xfrm>
            <a:off x="1532406" y="4940551"/>
            <a:ext cx="893326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dirty="0">
                <a:latin typeface="+mj-lt"/>
              </a:rPr>
              <a:t>Gracias al producto con seguridad le interesara tener la mejor organización de tiempos posible previo a vuelos y así ofrecer el mejor catalogo de vuelos a sus usuarios, aumentar la eficacia y favorecer al tráfico aéreo.</a:t>
            </a:r>
            <a:endParaRPr lang="es-MX" sz="24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54B36C8-BA72-8341-059D-6C460C4C0023}"/>
              </a:ext>
            </a:extLst>
          </p:cNvPr>
          <p:cNvSpPr txBox="1"/>
          <p:nvPr/>
        </p:nvSpPr>
        <p:spPr>
          <a:xfrm>
            <a:off x="3723290" y="420930"/>
            <a:ext cx="61012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i="1" dirty="0">
                <a:latin typeface="+mj-lt"/>
              </a:rPr>
              <a:t>VENTAJAS DEL PRODUCTO</a:t>
            </a:r>
            <a:endParaRPr lang="es-MX" sz="2800" i="1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29" y="529942"/>
            <a:ext cx="3718785" cy="1750803"/>
          </a:xfrm>
        </p:spPr>
        <p:txBody>
          <a:bodyPr rtlCol="0">
            <a:normAutofit/>
          </a:bodyPr>
          <a:lstStyle/>
          <a:p>
            <a:pPr rtl="0"/>
            <a:r>
              <a:rPr lang="es-ES" sz="4000" dirty="0" err="1"/>
              <a:t>MODELOs</a:t>
            </a:r>
            <a:r>
              <a:rPr lang="es-ES" sz="4000" dirty="0"/>
              <a:t> DE </a:t>
            </a:r>
            <a:r>
              <a:rPr lang="es-ES" sz="4000" dirty="0" err="1"/>
              <a:t>inversion</a:t>
            </a:r>
            <a:endParaRPr lang="es-ES" sz="4000" dirty="0"/>
          </a:p>
        </p:txBody>
      </p:sp>
      <p:sp>
        <p:nvSpPr>
          <p:cNvPr id="32" name="Marcador de fecha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es-ES"/>
              <a:t>Presentación para inversores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s-ES" smtClean="0"/>
              <a:pPr rtl="0"/>
              <a:t>6</a:t>
            </a:fld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7B367B4-DC50-877E-D1ED-F6074AC10D91}"/>
              </a:ext>
            </a:extLst>
          </p:cNvPr>
          <p:cNvSpPr txBox="1"/>
          <p:nvPr/>
        </p:nvSpPr>
        <p:spPr>
          <a:xfrm>
            <a:off x="4515131" y="729952"/>
            <a:ext cx="7424620" cy="5181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s-MX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Plan Emprendedor 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MX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($</a:t>
            </a:r>
            <a:r>
              <a:rPr lang="es-MX" sz="20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200</a:t>
            </a:r>
            <a:r>
              <a:rPr lang="es-MX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USD - Pago Único):</a:t>
            </a:r>
            <a:r>
              <a:rPr lang="es-MX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Ideal para empresas locales. Incluye el sistema listo para usar y manual de usuario.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s-MX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Plan Empresarial 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MX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($</a:t>
            </a:r>
            <a:r>
              <a:rPr lang="es-MX" sz="20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600</a:t>
            </a:r>
            <a:r>
              <a:rPr lang="es-MX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USD - Anual):</a:t>
            </a:r>
            <a:r>
              <a:rPr lang="es-MX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Nuestro plan más popular. Incluye la flexibilidad de adaptar el sistema a sus necesidades, herramientas de automatización y soporte técnico prioritario.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s-MX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Plan Corporativo 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MX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($1,000 USD - Personalizado):</a:t>
            </a:r>
            <a:r>
              <a:rPr lang="es-MX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Diseñado para grandes redes logísticas. Incluye soporte 24/7, mantenimiento correctivo ilimitado, diseño a la medida, futuras implementaciones totalmente gratuitas por su confianza.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6FEC949-AC42-18B0-E371-954861C8F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49" y="2364827"/>
            <a:ext cx="4585978" cy="364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theme/theme1.xml><?xml version="1.0" encoding="utf-8"?>
<a:theme xmlns:a="http://schemas.openxmlformats.org/drawingml/2006/main" name="Una sola líne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44_TF56180624_Win32" id="{CCF276C0-2FDF-463F-B45D-4EDBA039C896}" vid="{7446774B-3392-4AFF-ADF4-7FE1E36E528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ventas minimalista tenue</Template>
  <TotalTime>69</TotalTime>
  <Words>602</Words>
  <Application>Microsoft Office PowerPoint</Application>
  <PresentationFormat>Widescreen</PresentationFormat>
  <Paragraphs>60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Courier New</vt:lpstr>
      <vt:lpstr>Tenorite</vt:lpstr>
      <vt:lpstr>Una sola línea</vt:lpstr>
      <vt:lpstr>Sistema Inteligente de Optimización de Rutas: El Futuro de la Logística Aérea.</vt:lpstr>
      <vt:lpstr>AREA DE OPORTUNIDAD un mercado que exige inmediatez</vt:lpstr>
      <vt:lpstr>El caos invisible de la planificación aérea.</vt:lpstr>
      <vt:lpstr>LA SOLUCION SOMOS NOSOTROS Nuestro Producto: Simplicidad y Control Absoluto</vt:lpstr>
      <vt:lpstr>  Optimización de Costos: Encuentra la ruta que menos dinero le cuesta a su organización.  Optimización de Tiempo: Diseña el camino más rápido para cumplir con horarios estrictos y evitar retrasos y saturación entre vuelos.  Cero Desperdicio de Recursos: El sistema está diseñado para ser ultra eficiente; no satura sus computadoras ni requiere equipos costosos para funcionar. </vt:lpstr>
      <vt:lpstr>MODELOs DE inversion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EDSON ARMANDO AMAYA MACIAS</dc:creator>
  <cp:lastModifiedBy>SEBASTIAN CALDERON CARRILLO</cp:lastModifiedBy>
  <cp:revision>4</cp:revision>
  <dcterms:created xsi:type="dcterms:W3CDTF">2026-05-19T04:01:25Z</dcterms:created>
  <dcterms:modified xsi:type="dcterms:W3CDTF">2026-05-19T17:21:31Z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